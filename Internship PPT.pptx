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2" r:id="rId7"/>
    <p:sldId id="268" r:id="rId8"/>
    <p:sldId id="263" r:id="rId9"/>
    <p:sldId id="269" r:id="rId10"/>
    <p:sldId id="264" r:id="rId11"/>
    <p:sldId id="270" r:id="rId12"/>
    <p:sldId id="265" r:id="rId13"/>
    <p:sldId id="271" r:id="rId14"/>
    <p:sldId id="272" r:id="rId15"/>
    <p:sldId id="266" r:id="rId16"/>
    <p:sldId id="267" r:id="rId17"/>
    <p:sldId id="261"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0" roundtripDataSignature="AMtx7mgEImUSBnzB7Nwo1Y+ZxTH9IFmlv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350" autoAdjust="0"/>
  </p:normalViewPr>
  <p:slideViewPr>
    <p:cSldViewPr snapToGrid="0">
      <p:cViewPr>
        <p:scale>
          <a:sx n="66" d="100"/>
          <a:sy n="66" d="100"/>
        </p:scale>
        <p:origin x="1301" y="27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0049610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66765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41418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30853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535047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989561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7</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5752695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652723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12</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1680020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idx="12"/>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14</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1568062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idx="10"/>
          </p:nvPr>
        </p:nvSpPr>
        <p:spPr/>
        <p:txBody>
          <a:bodyPr/>
          <a:lstStyle/>
          <a:p>
            <a:pPr marL="0" marR="0" lvl="0" indent="0" algn="r" rtl="0">
              <a:spcBef>
                <a:spcPts val="0"/>
              </a:spcBef>
              <a:spcAft>
                <a:spcPts val="0"/>
              </a:spcAft>
              <a:buNone/>
            </a:pPr>
            <a:fld id="{00000000-1234-1234-1234-123412341234}" type="slidenum">
              <a:rPr lang="en-US" sz="1200" b="0" i="0" u="none" strike="noStrike" cap="none" smtClean="0">
                <a:solidFill>
                  <a:schemeClr val="dk1"/>
                </a:solidFill>
                <a:latin typeface="Calibri"/>
                <a:ea typeface="Calibri"/>
                <a:cs typeface="Calibri"/>
                <a:sym typeface="Calibri"/>
              </a:rPr>
              <a:t>15</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5236766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822880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8" name="Google Shape;18;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9"/>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 name="Google Shape;24;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10"/>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10"/>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0" name="Google Shape;30;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1"/>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1"/>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12"/>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12"/>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3" name="Google Shape;43;p12"/>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4" name="Google Shape;44;p12"/>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5" name="Google Shape;45;p12"/>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4"/>
        <p:cNvGrpSpPr/>
        <p:nvPr/>
      </p:nvGrpSpPr>
      <p:grpSpPr>
        <a:xfrm>
          <a:off x="0" y="0"/>
          <a:ext cx="0" cy="0"/>
          <a:chOff x="0" y="0"/>
          <a:chExt cx="0" cy="0"/>
        </a:xfrm>
      </p:grpSpPr>
      <p:sp>
        <p:nvSpPr>
          <p:cNvPr id="55" name="Google Shape;55;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15"/>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1" name="Google Shape;61;p15"/>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2" name="Google Shape;62;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5"/>
        <p:cNvGrpSpPr/>
        <p:nvPr/>
      </p:nvGrpSpPr>
      <p:grpSpPr>
        <a:xfrm>
          <a:off x="0" y="0"/>
          <a:ext cx="0" cy="0"/>
          <a:chOff x="0" y="0"/>
          <a:chExt cx="0" cy="0"/>
        </a:xfrm>
      </p:grpSpPr>
      <p:sp>
        <p:nvSpPr>
          <p:cNvPr id="66" name="Google Shape;66;p16"/>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6"/>
          <p:cNvSpPr>
            <a:spLocks noGrp="1"/>
          </p:cNvSpPr>
          <p:nvPr>
            <p:ph type="pic" idx="2"/>
          </p:nvPr>
        </p:nvSpPr>
        <p:spPr>
          <a:xfrm>
            <a:off x="5183188" y="987425"/>
            <a:ext cx="6172200" cy="4873625"/>
          </a:xfrm>
          <a:prstGeom prst="rect">
            <a:avLst/>
          </a:prstGeom>
          <a:noFill/>
          <a:ln>
            <a:noFill/>
          </a:ln>
        </p:spPr>
      </p:sp>
      <p:sp>
        <p:nvSpPr>
          <p:cNvPr id="68" name="Google Shape;68;p16"/>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2"/>
        <p:cNvGrpSpPr/>
        <p:nvPr/>
      </p:nvGrpSpPr>
      <p:grpSpPr>
        <a:xfrm>
          <a:off x="0" y="0"/>
          <a:ext cx="0" cy="0"/>
          <a:chOff x="0" y="0"/>
          <a:chExt cx="0" cy="0"/>
        </a:xfrm>
      </p:grpSpPr>
      <p:sp>
        <p:nvSpPr>
          <p:cNvPr id="73" name="Google Shape;73;p1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17"/>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8"/>
        <p:cNvGrpSpPr/>
        <p:nvPr/>
      </p:nvGrpSpPr>
      <p:grpSpPr>
        <a:xfrm>
          <a:off x="0" y="0"/>
          <a:ext cx="0" cy="0"/>
          <a:chOff x="0" y="0"/>
          <a:chExt cx="0" cy="0"/>
        </a:xfrm>
      </p:grpSpPr>
      <p:sp>
        <p:nvSpPr>
          <p:cNvPr id="79" name="Google Shape;79;p18"/>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18"/>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7"/>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jpe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g"/></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jpg"/><Relationship Id="rId4" Type="http://schemas.openxmlformats.org/officeDocument/2006/relationships/image" Target="../media/image3.jpeg"/></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3.jpeg"/></Relationships>
</file>

<file path=ppt/slides/_rels/slide1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g"/><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jpe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
          <p:cNvSpPr txBox="1">
            <a:spLocks noGrp="1"/>
          </p:cNvSpPr>
          <p:nvPr>
            <p:ph type="ctrTitle"/>
          </p:nvPr>
        </p:nvSpPr>
        <p:spPr>
          <a:xfrm>
            <a:off x="1524000" y="1122363"/>
            <a:ext cx="9144000" cy="1171658"/>
          </a:xfrm>
          <a:prstGeom prst="rect">
            <a:avLst/>
          </a:prstGeom>
          <a:noFill/>
          <a:ln>
            <a:noFill/>
          </a:ln>
        </p:spPr>
        <p:txBody>
          <a:bodyPr spcFirstLastPara="1" wrap="square" lIns="91425" tIns="45700" rIns="91425" bIns="45700" anchor="b" anchorCtr="0">
            <a:normAutofit/>
          </a:bodyPr>
          <a:lstStyle/>
          <a:p>
            <a:pPr marL="0" lvl="0" indent="0" algn="ctr" rtl="0">
              <a:lnSpc>
                <a:spcPct val="90000"/>
              </a:lnSpc>
              <a:spcBef>
                <a:spcPts val="0"/>
              </a:spcBef>
              <a:spcAft>
                <a:spcPts val="0"/>
              </a:spcAft>
              <a:buClr>
                <a:schemeClr val="dk1"/>
              </a:buClr>
              <a:buSzPts val="6000"/>
              <a:buFont typeface="Times New Roman"/>
              <a:buNone/>
            </a:pPr>
            <a:r>
              <a:rPr lang="en-US" dirty="0">
                <a:latin typeface="Times New Roman"/>
                <a:cs typeface="Times New Roman"/>
                <a:sym typeface="Times New Roman"/>
              </a:rPr>
              <a:t>Data Analytics</a:t>
            </a:r>
            <a:endParaRPr dirty="0"/>
          </a:p>
        </p:txBody>
      </p:sp>
      <p:sp>
        <p:nvSpPr>
          <p:cNvPr id="89" name="Google Shape;89;p1"/>
          <p:cNvSpPr txBox="1">
            <a:spLocks noGrp="1"/>
          </p:cNvSpPr>
          <p:nvPr>
            <p:ph type="subTitle" idx="1"/>
          </p:nvPr>
        </p:nvSpPr>
        <p:spPr>
          <a:xfrm>
            <a:off x="4568176" y="2505862"/>
            <a:ext cx="2999874" cy="922945"/>
          </a:xfrm>
          <a:prstGeom prst="rect">
            <a:avLst/>
          </a:prstGeom>
          <a:noFill/>
          <a:ln>
            <a:noFill/>
          </a:ln>
        </p:spPr>
        <p:txBody>
          <a:bodyPr spcFirstLastPara="1" wrap="square" lIns="91425" tIns="45700" rIns="91425" bIns="45700" anchor="t" anchorCtr="0">
            <a:normAutofit/>
          </a:bodyPr>
          <a:lstStyle/>
          <a:p>
            <a:pPr marL="0" lvl="0" indent="0" algn="ctr" rtl="0">
              <a:lnSpc>
                <a:spcPct val="90000"/>
              </a:lnSpc>
              <a:spcBef>
                <a:spcPts val="0"/>
              </a:spcBef>
              <a:spcAft>
                <a:spcPts val="0"/>
              </a:spcAft>
              <a:buClr>
                <a:schemeClr val="dk1"/>
              </a:buClr>
              <a:buSzPts val="2400"/>
              <a:buNone/>
            </a:pPr>
            <a:r>
              <a:rPr lang="en-US" dirty="0">
                <a:latin typeface="Times New Roman"/>
                <a:cs typeface="Times New Roman"/>
                <a:sym typeface="Times New Roman"/>
              </a:rPr>
              <a:t>Yamuna V</a:t>
            </a:r>
            <a:endParaRPr dirty="0"/>
          </a:p>
          <a:p>
            <a:pPr marL="0" lvl="0" indent="0" algn="ctr" rtl="0">
              <a:lnSpc>
                <a:spcPct val="90000"/>
              </a:lnSpc>
              <a:spcBef>
                <a:spcPts val="1000"/>
              </a:spcBef>
              <a:spcAft>
                <a:spcPts val="0"/>
              </a:spcAft>
              <a:buClr>
                <a:schemeClr val="dk1"/>
              </a:buClr>
              <a:buSzPts val="2400"/>
              <a:buNone/>
            </a:pPr>
            <a:r>
              <a:rPr lang="en-US" dirty="0">
                <a:latin typeface="Times New Roman"/>
                <a:cs typeface="Times New Roman"/>
                <a:sym typeface="Times New Roman"/>
              </a:rPr>
              <a:t>ENG22CT0052</a:t>
            </a:r>
            <a:endParaRPr dirty="0"/>
          </a:p>
          <a:p>
            <a:pPr marL="0" lvl="0" indent="0" algn="ctr" rtl="0">
              <a:lnSpc>
                <a:spcPct val="90000"/>
              </a:lnSpc>
              <a:spcBef>
                <a:spcPts val="1000"/>
              </a:spcBef>
              <a:spcAft>
                <a:spcPts val="0"/>
              </a:spcAft>
              <a:buClr>
                <a:schemeClr val="dk1"/>
              </a:buClr>
              <a:buSzPts val="2400"/>
              <a:buNone/>
            </a:pPr>
            <a:endParaRPr dirty="0">
              <a:latin typeface="Times New Roman"/>
              <a:ea typeface="Times New Roman"/>
              <a:cs typeface="Times New Roman"/>
              <a:sym typeface="Times New Roman"/>
            </a:endParaRPr>
          </a:p>
        </p:txBody>
      </p:sp>
      <p:pic>
        <p:nvPicPr>
          <p:cNvPr id="90" name="Google Shape;90;p1"/>
          <p:cNvPicPr preferRelativeResize="0"/>
          <p:nvPr/>
        </p:nvPicPr>
        <p:blipFill rotWithShape="1">
          <a:blip r:embed="rId3">
            <a:alphaModFix/>
          </a:blip>
          <a:srcRect/>
          <a:stretch/>
        </p:blipFill>
        <p:spPr>
          <a:xfrm>
            <a:off x="9574057" y="1"/>
            <a:ext cx="2389240" cy="791852"/>
          </a:xfrm>
          <a:prstGeom prst="rect">
            <a:avLst/>
          </a:prstGeom>
          <a:noFill/>
          <a:ln>
            <a:noFill/>
          </a:ln>
        </p:spPr>
      </p:pic>
      <p:pic>
        <p:nvPicPr>
          <p:cNvPr id="91" name="Google Shape;91;p1"/>
          <p:cNvPicPr preferRelativeResize="0"/>
          <p:nvPr/>
        </p:nvPicPr>
        <p:blipFill rotWithShape="1">
          <a:blip r:embed="rId4">
            <a:alphaModFix/>
          </a:blip>
          <a:srcRect/>
          <a:stretch/>
        </p:blipFill>
        <p:spPr>
          <a:xfrm>
            <a:off x="70433" y="36724"/>
            <a:ext cx="2757608" cy="873605"/>
          </a:xfrm>
          <a:prstGeom prst="rect">
            <a:avLst/>
          </a:prstGeom>
          <a:noFill/>
          <a:ln>
            <a:noFill/>
          </a:ln>
        </p:spPr>
      </p:pic>
      <p:sp>
        <p:nvSpPr>
          <p:cNvPr id="92" name="Google Shape;92;p1"/>
          <p:cNvSpPr txBox="1"/>
          <p:nvPr/>
        </p:nvSpPr>
        <p:spPr>
          <a:xfrm>
            <a:off x="481263" y="4102507"/>
            <a:ext cx="3628824" cy="922945"/>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b="1" i="0" u="none" strike="noStrike" cap="none">
                <a:solidFill>
                  <a:schemeClr val="dk1"/>
                </a:solidFill>
                <a:latin typeface="Times New Roman"/>
                <a:ea typeface="Times New Roman"/>
                <a:cs typeface="Times New Roman"/>
                <a:sym typeface="Times New Roman"/>
              </a:rPr>
              <a:t>Internship Coordinators:</a:t>
            </a:r>
            <a:endParaRPr/>
          </a:p>
          <a:p>
            <a:pPr marL="0" marR="0" lvl="0" indent="0" algn="ctr" rtl="0">
              <a:lnSpc>
                <a:spcPct val="90000"/>
              </a:lnSpc>
              <a:spcBef>
                <a:spcPts val="1000"/>
              </a:spcBef>
              <a:spcAft>
                <a:spcPts val="0"/>
              </a:spcAft>
              <a:buClr>
                <a:schemeClr val="dk1"/>
              </a:buClr>
              <a:buSzPts val="2400"/>
              <a:buFont typeface="Arial"/>
              <a:buNone/>
            </a:pPr>
            <a:endParaRPr sz="2400" b="0" i="0" u="none" strike="noStrike" cap="none">
              <a:solidFill>
                <a:schemeClr val="dk1"/>
              </a:solidFill>
              <a:latin typeface="Times New Roman"/>
              <a:ea typeface="Times New Roman"/>
              <a:cs typeface="Times New Roman"/>
              <a:sym typeface="Times New Roman"/>
            </a:endParaRPr>
          </a:p>
        </p:txBody>
      </p:sp>
      <p:sp>
        <p:nvSpPr>
          <p:cNvPr id="93" name="Google Shape;93;p1"/>
          <p:cNvSpPr txBox="1"/>
          <p:nvPr/>
        </p:nvSpPr>
        <p:spPr>
          <a:xfrm>
            <a:off x="7595937" y="4102506"/>
            <a:ext cx="4114800" cy="922945"/>
          </a:xfrm>
          <a:prstGeom prst="rect">
            <a:avLst/>
          </a:prstGeom>
          <a:noFill/>
          <a:ln>
            <a:noFill/>
          </a:ln>
        </p:spPr>
        <p:txBody>
          <a:bodyPr spcFirstLastPara="1" wrap="square" lIns="91425" tIns="45700" rIns="91425" bIns="45700" anchor="t" anchorCtr="0">
            <a:noAutofit/>
          </a:bodyPr>
          <a:lstStyle/>
          <a:p>
            <a:pPr marL="0" marR="0" lvl="0" indent="0" algn="ctr" rtl="0">
              <a:lnSpc>
                <a:spcPct val="90000"/>
              </a:lnSpc>
              <a:spcBef>
                <a:spcPts val="0"/>
              </a:spcBef>
              <a:spcAft>
                <a:spcPts val="0"/>
              </a:spcAft>
              <a:buClr>
                <a:schemeClr val="dk1"/>
              </a:buClr>
              <a:buSzPts val="2400"/>
              <a:buFont typeface="Arial"/>
              <a:buNone/>
            </a:pPr>
            <a:r>
              <a:rPr lang="en-US" sz="2400" b="1" i="0" u="none" strike="noStrike" cap="none" dirty="0">
                <a:solidFill>
                  <a:schemeClr val="dk1"/>
                </a:solidFill>
                <a:latin typeface="Times New Roman"/>
                <a:ea typeface="Times New Roman"/>
                <a:cs typeface="Times New Roman"/>
                <a:sym typeface="Times New Roman"/>
              </a:rPr>
              <a:t>Under the supervision of:</a:t>
            </a:r>
          </a:p>
          <a:p>
            <a:pPr marL="0" marR="0" lvl="0" indent="0" algn="ctr" rtl="0">
              <a:lnSpc>
                <a:spcPct val="90000"/>
              </a:lnSpc>
              <a:spcBef>
                <a:spcPts val="0"/>
              </a:spcBef>
              <a:spcAft>
                <a:spcPts val="0"/>
              </a:spcAft>
              <a:buClr>
                <a:schemeClr val="dk1"/>
              </a:buClr>
              <a:buSzPts val="2400"/>
              <a:buFont typeface="Arial"/>
              <a:buNone/>
            </a:pPr>
            <a:endParaRPr lang="en-US" sz="2400" b="1" dirty="0">
              <a:solidFill>
                <a:schemeClr val="dk1"/>
              </a:solidFill>
              <a:latin typeface="Times New Roman"/>
              <a:cs typeface="Times New Roman"/>
              <a:sym typeface="Times New Roman"/>
            </a:endParaRPr>
          </a:p>
          <a:p>
            <a:pPr lvl="0"/>
            <a:r>
              <a:rPr lang="en-US" sz="2400" dirty="0">
                <a:solidFill>
                  <a:schemeClr val="dk1"/>
                </a:solidFill>
                <a:latin typeface="Times New Roman"/>
                <a:ea typeface="Times New Roman"/>
                <a:cs typeface="Times New Roman"/>
                <a:sym typeface="Times New Roman"/>
              </a:rPr>
              <a:t>    </a:t>
            </a:r>
            <a:r>
              <a:rPr lang="en-US" sz="2400" dirty="0" err="1">
                <a:solidFill>
                  <a:schemeClr val="dk1"/>
                </a:solidFill>
                <a:latin typeface="Times New Roman"/>
                <a:ea typeface="Times New Roman"/>
                <a:cs typeface="Times New Roman"/>
                <a:sym typeface="Times New Roman"/>
              </a:rPr>
              <a:t>Neela</a:t>
            </a:r>
            <a:r>
              <a:rPr lang="en-US" sz="2400" dirty="0">
                <a:solidFill>
                  <a:schemeClr val="dk1"/>
                </a:solidFill>
                <a:latin typeface="Times New Roman"/>
                <a:ea typeface="Times New Roman"/>
                <a:cs typeface="Times New Roman"/>
                <a:sym typeface="Times New Roman"/>
              </a:rPr>
              <a:t> </a:t>
            </a:r>
            <a:r>
              <a:rPr lang="en-US" sz="2400" dirty="0" err="1">
                <a:solidFill>
                  <a:schemeClr val="dk1"/>
                </a:solidFill>
                <a:latin typeface="Times New Roman"/>
                <a:ea typeface="Times New Roman"/>
                <a:cs typeface="Times New Roman"/>
                <a:sym typeface="Times New Roman"/>
              </a:rPr>
              <a:t>Santhosh</a:t>
            </a:r>
            <a:r>
              <a:rPr lang="en-US" sz="2400" dirty="0">
                <a:solidFill>
                  <a:schemeClr val="dk1"/>
                </a:solidFill>
                <a:latin typeface="Times New Roman"/>
                <a:ea typeface="Times New Roman"/>
                <a:cs typeface="Times New Roman"/>
                <a:sym typeface="Times New Roman"/>
              </a:rPr>
              <a:t> Kumar</a:t>
            </a:r>
            <a:endParaRPr lang="en-US" sz="2400" dirty="0"/>
          </a:p>
          <a:p>
            <a:pPr lvl="0"/>
            <a:r>
              <a:rPr lang="en-US" sz="2400" dirty="0">
                <a:solidFill>
                  <a:schemeClr val="dk1"/>
                </a:solidFill>
                <a:latin typeface="Times New Roman"/>
                <a:ea typeface="Times New Roman"/>
                <a:cs typeface="Times New Roman"/>
                <a:sym typeface="Times New Roman"/>
              </a:rPr>
              <a:t>    HR, </a:t>
            </a:r>
            <a:endParaRPr lang="en-US" sz="2400" dirty="0"/>
          </a:p>
          <a:p>
            <a:pPr lvl="0"/>
            <a:r>
              <a:rPr lang="en-US" sz="2400" dirty="0">
                <a:solidFill>
                  <a:schemeClr val="dk1"/>
                </a:solidFill>
                <a:latin typeface="Times New Roman"/>
                <a:ea typeface="Times New Roman"/>
                <a:cs typeface="Times New Roman"/>
                <a:sym typeface="Times New Roman"/>
              </a:rPr>
              <a:t>    </a:t>
            </a:r>
            <a:r>
              <a:rPr lang="en-US" sz="2400" dirty="0" err="1">
                <a:solidFill>
                  <a:schemeClr val="dk1"/>
                </a:solidFill>
                <a:latin typeface="Times New Roman"/>
                <a:ea typeface="Times New Roman"/>
                <a:cs typeface="Times New Roman"/>
                <a:sym typeface="Times New Roman"/>
              </a:rPr>
              <a:t>Codtech</a:t>
            </a:r>
            <a:r>
              <a:rPr lang="en-US" sz="2400" dirty="0">
                <a:solidFill>
                  <a:schemeClr val="dk1"/>
                </a:solidFill>
                <a:latin typeface="Times New Roman"/>
                <a:ea typeface="Times New Roman"/>
                <a:cs typeface="Times New Roman"/>
                <a:sym typeface="Times New Roman"/>
              </a:rPr>
              <a:t> IT Solutions</a:t>
            </a:r>
            <a:endParaRPr lang="en-US" sz="2400" dirty="0"/>
          </a:p>
          <a:p>
            <a:pPr lvl="0"/>
            <a:endParaRPr lang="en-US" sz="2400" dirty="0"/>
          </a:p>
          <a:p>
            <a:pPr marL="0" marR="0" lvl="0" indent="0" algn="ctr"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Times New Roman"/>
              <a:ea typeface="Times New Roman"/>
              <a:cs typeface="Times New Roman"/>
              <a:sym typeface="Times New Roman"/>
            </a:endParaRPr>
          </a:p>
          <a:p>
            <a:pPr marL="0" marR="0" lvl="0" indent="0" algn="ctr" rtl="0">
              <a:lnSpc>
                <a:spcPct val="90000"/>
              </a:lnSpc>
              <a:spcBef>
                <a:spcPts val="1000"/>
              </a:spcBef>
              <a:spcAft>
                <a:spcPts val="0"/>
              </a:spcAft>
              <a:buClr>
                <a:schemeClr val="dk1"/>
              </a:buClr>
              <a:buSzPts val="2400"/>
              <a:buFont typeface="Arial"/>
              <a:buNone/>
            </a:pPr>
            <a:endParaRPr sz="2400" b="0" i="0" u="none" strike="noStrike" cap="none" dirty="0">
              <a:solidFill>
                <a:schemeClr val="dk1"/>
              </a:solidFill>
              <a:latin typeface="Times New Roman"/>
              <a:ea typeface="Times New Roman"/>
              <a:cs typeface="Times New Roman"/>
              <a:sym typeface="Times New Roman"/>
            </a:endParaRPr>
          </a:p>
        </p:txBody>
      </p:sp>
      <p:sp>
        <p:nvSpPr>
          <p:cNvPr id="94" name="Google Shape;94;p1"/>
          <p:cNvSpPr txBox="1"/>
          <p:nvPr/>
        </p:nvSpPr>
        <p:spPr>
          <a:xfrm>
            <a:off x="550146" y="4775821"/>
            <a:ext cx="2910525"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0" i="0" u="none" strike="noStrike" cap="none" dirty="0">
                <a:solidFill>
                  <a:schemeClr val="dk1"/>
                </a:solidFill>
                <a:latin typeface="Times New Roman"/>
                <a:ea typeface="Times New Roman"/>
                <a:cs typeface="Times New Roman"/>
                <a:sym typeface="Times New Roman"/>
              </a:rPr>
              <a:t>Dr. </a:t>
            </a:r>
            <a:r>
              <a:rPr lang="en-US" sz="2400" b="0" i="0" u="none" strike="noStrike" cap="none" dirty="0" err="1">
                <a:solidFill>
                  <a:schemeClr val="dk1"/>
                </a:solidFill>
                <a:latin typeface="Times New Roman"/>
                <a:ea typeface="Times New Roman"/>
                <a:cs typeface="Times New Roman"/>
                <a:sym typeface="Times New Roman"/>
              </a:rPr>
              <a:t>Ramandeep</a:t>
            </a:r>
            <a:r>
              <a:rPr lang="en-US" sz="2400" b="0" i="0" u="none" strike="noStrike" cap="none" dirty="0">
                <a:solidFill>
                  <a:schemeClr val="dk1"/>
                </a:solidFill>
                <a:latin typeface="Times New Roman"/>
                <a:ea typeface="Times New Roman"/>
                <a:cs typeface="Times New Roman"/>
                <a:sym typeface="Times New Roman"/>
              </a:rPr>
              <a:t> Kaur</a:t>
            </a:r>
            <a:endParaRPr dirty="0"/>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Assistant Professor, </a:t>
            </a:r>
            <a:endParaRPr dirty="0"/>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Dept. of CST</a:t>
            </a:r>
            <a:endParaRPr dirty="0"/>
          </a:p>
          <a:p>
            <a:pPr marL="0" marR="0" lvl="0" indent="0" algn="l" rtl="0">
              <a:spcBef>
                <a:spcPts val="0"/>
              </a:spcBef>
              <a:spcAft>
                <a:spcPts val="0"/>
              </a:spcAft>
              <a:buNone/>
            </a:pPr>
            <a:r>
              <a:rPr lang="en-US" sz="2400" dirty="0" err="1">
                <a:solidFill>
                  <a:schemeClr val="dk1"/>
                </a:solidFill>
                <a:latin typeface="Times New Roman"/>
                <a:ea typeface="Times New Roman"/>
                <a:cs typeface="Times New Roman"/>
                <a:sym typeface="Times New Roman"/>
              </a:rPr>
              <a:t>SoE</a:t>
            </a:r>
            <a:r>
              <a:rPr lang="en-US" sz="2400" dirty="0">
                <a:solidFill>
                  <a:schemeClr val="dk1"/>
                </a:solidFill>
                <a:latin typeface="Times New Roman"/>
                <a:ea typeface="Times New Roman"/>
                <a:cs typeface="Times New Roman"/>
                <a:sym typeface="Times New Roman"/>
              </a:rPr>
              <a:t>, DSU</a:t>
            </a:r>
            <a:endParaRPr dirty="0"/>
          </a:p>
        </p:txBody>
      </p:sp>
      <p:sp>
        <p:nvSpPr>
          <p:cNvPr id="95" name="Google Shape;95;p1"/>
          <p:cNvSpPr txBox="1"/>
          <p:nvPr/>
        </p:nvSpPr>
        <p:spPr>
          <a:xfrm>
            <a:off x="3289301" y="4775821"/>
            <a:ext cx="3467099" cy="156966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Dr. </a:t>
            </a:r>
            <a:r>
              <a:rPr lang="en-US" sz="2400" dirty="0" err="1">
                <a:solidFill>
                  <a:schemeClr val="dk1"/>
                </a:solidFill>
                <a:latin typeface="Times New Roman"/>
                <a:ea typeface="Times New Roman"/>
                <a:cs typeface="Times New Roman"/>
                <a:sym typeface="Times New Roman"/>
              </a:rPr>
              <a:t>Hemchandra</a:t>
            </a:r>
            <a:r>
              <a:rPr lang="en-US" sz="2400" dirty="0">
                <a:solidFill>
                  <a:schemeClr val="dk1"/>
                </a:solidFill>
                <a:latin typeface="Times New Roman"/>
                <a:ea typeface="Times New Roman"/>
                <a:cs typeface="Times New Roman"/>
                <a:sym typeface="Times New Roman"/>
              </a:rPr>
              <a:t> Reddy K</a:t>
            </a:r>
            <a:endParaRPr dirty="0"/>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Assistant Professor, </a:t>
            </a:r>
            <a:endParaRPr dirty="0"/>
          </a:p>
          <a:p>
            <a:pPr marL="0" marR="0" lvl="0" indent="0" algn="l" rtl="0">
              <a:spcBef>
                <a:spcPts val="0"/>
              </a:spcBef>
              <a:spcAft>
                <a:spcPts val="0"/>
              </a:spcAft>
              <a:buNone/>
            </a:pPr>
            <a:r>
              <a:rPr lang="en-US" sz="2400" dirty="0">
                <a:solidFill>
                  <a:schemeClr val="dk1"/>
                </a:solidFill>
                <a:latin typeface="Times New Roman"/>
                <a:ea typeface="Times New Roman"/>
                <a:cs typeface="Times New Roman"/>
                <a:sym typeface="Times New Roman"/>
              </a:rPr>
              <a:t>Dept. of CST</a:t>
            </a:r>
            <a:endParaRPr dirty="0"/>
          </a:p>
          <a:p>
            <a:pPr marL="0" marR="0" lvl="0" indent="0" algn="l" rtl="0">
              <a:spcBef>
                <a:spcPts val="0"/>
              </a:spcBef>
              <a:spcAft>
                <a:spcPts val="0"/>
              </a:spcAft>
              <a:buNone/>
            </a:pPr>
            <a:r>
              <a:rPr lang="en-US" sz="2400" dirty="0" err="1">
                <a:solidFill>
                  <a:schemeClr val="dk1"/>
                </a:solidFill>
                <a:latin typeface="Times New Roman"/>
                <a:ea typeface="Times New Roman"/>
                <a:cs typeface="Times New Roman"/>
                <a:sym typeface="Times New Roman"/>
              </a:rPr>
              <a:t>SoE</a:t>
            </a:r>
            <a:r>
              <a:rPr lang="en-US" sz="2400" dirty="0">
                <a:solidFill>
                  <a:schemeClr val="dk1"/>
                </a:solidFill>
                <a:latin typeface="Times New Roman"/>
                <a:ea typeface="Times New Roman"/>
                <a:cs typeface="Times New Roman"/>
                <a:sym typeface="Times New Roman"/>
              </a:rPr>
              <a:t>, DSU</a:t>
            </a:r>
            <a:endParaRPr dirty="0"/>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21399" y="36724"/>
            <a:ext cx="2749201" cy="1032107"/>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38200" y="978650"/>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4400"/>
              <a:buFont typeface="Times New Roman"/>
              <a:buNone/>
            </a:pPr>
            <a:r>
              <a:rPr lang="en-US" dirty="0">
                <a:latin typeface="Times New Roman"/>
                <a:ea typeface="Times New Roman"/>
                <a:cs typeface="Times New Roman"/>
                <a:sym typeface="Times New Roman"/>
              </a:rPr>
              <a:t>Agenda</a:t>
            </a:r>
            <a:endParaRPr dirty="0"/>
          </a:p>
        </p:txBody>
      </p:sp>
      <p:sp>
        <p:nvSpPr>
          <p:cNvPr id="102" name="Google Shape;102;p2"/>
          <p:cNvSpPr txBox="1">
            <a:spLocks noGrp="1"/>
          </p:cNvSpPr>
          <p:nvPr>
            <p:ph type="body" idx="1"/>
          </p:nvPr>
        </p:nvSpPr>
        <p:spPr>
          <a:xfrm>
            <a:off x="838200" y="2422689"/>
            <a:ext cx="10515600" cy="3754274"/>
          </a:xfrm>
          <a:prstGeom prst="rect">
            <a:avLst/>
          </a:prstGeom>
          <a:noFill/>
          <a:ln>
            <a:noFill/>
          </a:ln>
        </p:spPr>
        <p:txBody>
          <a:bodyPr spcFirstLastPara="1" wrap="square" lIns="91425" tIns="45700" rIns="91425" bIns="45700" anchor="t" anchorCtr="0">
            <a:normAutofit lnSpcReduction="10000"/>
          </a:bodyPr>
          <a:lstStyle/>
          <a:p>
            <a:pPr marL="0" lvl="0" indent="0" algn="l" rtl="0">
              <a:lnSpc>
                <a:spcPct val="90000"/>
              </a:lnSpc>
              <a:spcBef>
                <a:spcPts val="0"/>
              </a:spcBef>
              <a:spcAft>
                <a:spcPts val="0"/>
              </a:spcAft>
              <a:buClr>
                <a:schemeClr val="dk1"/>
              </a:buClr>
              <a:buSzPts val="2800"/>
              <a:buNone/>
            </a:pPr>
            <a:r>
              <a:rPr lang="en-US" dirty="0">
                <a:latin typeface="Times New Roman"/>
                <a:ea typeface="Times New Roman"/>
                <a:cs typeface="Times New Roman"/>
                <a:sym typeface="Times New Roman"/>
              </a:rPr>
              <a:t>Must include the following, but not limited to:</a:t>
            </a:r>
            <a:endParaRPr dirty="0"/>
          </a:p>
          <a:p>
            <a:pPr marL="514350" lvl="0" indent="-514350" algn="l" rtl="0">
              <a:lnSpc>
                <a:spcPct val="90000"/>
              </a:lnSpc>
              <a:spcBef>
                <a:spcPts val="1000"/>
              </a:spcBef>
              <a:spcAft>
                <a:spcPts val="0"/>
              </a:spcAft>
              <a:buClr>
                <a:schemeClr val="dk1"/>
              </a:buClr>
              <a:buSzPts val="2800"/>
              <a:buAutoNum type="arabicPeriod"/>
            </a:pPr>
            <a:r>
              <a:rPr lang="en-US" dirty="0">
                <a:latin typeface="Times New Roman"/>
                <a:ea typeface="Times New Roman"/>
                <a:cs typeface="Times New Roman"/>
                <a:sym typeface="Times New Roman"/>
              </a:rPr>
              <a:t>About the company</a:t>
            </a:r>
            <a:endParaRPr dirty="0"/>
          </a:p>
          <a:p>
            <a:pPr marL="514350" lvl="0" indent="-514350" algn="l" rtl="0">
              <a:lnSpc>
                <a:spcPct val="90000"/>
              </a:lnSpc>
              <a:spcBef>
                <a:spcPts val="1000"/>
              </a:spcBef>
              <a:spcAft>
                <a:spcPts val="0"/>
              </a:spcAft>
              <a:buClr>
                <a:schemeClr val="dk1"/>
              </a:buClr>
              <a:buSzPts val="2800"/>
              <a:buAutoNum type="arabicPeriod"/>
            </a:pPr>
            <a:r>
              <a:rPr lang="en-US" dirty="0">
                <a:latin typeface="Times New Roman"/>
                <a:ea typeface="Times New Roman"/>
                <a:cs typeface="Times New Roman"/>
                <a:sym typeface="Times New Roman"/>
              </a:rPr>
              <a:t>Assigned Project details </a:t>
            </a:r>
            <a:endParaRPr dirty="0"/>
          </a:p>
          <a:p>
            <a:pPr marL="514350" lvl="0" indent="-514350" algn="l" rtl="0">
              <a:lnSpc>
                <a:spcPct val="90000"/>
              </a:lnSpc>
              <a:spcBef>
                <a:spcPts val="1000"/>
              </a:spcBef>
              <a:spcAft>
                <a:spcPts val="0"/>
              </a:spcAft>
              <a:buClr>
                <a:schemeClr val="dk1"/>
              </a:buClr>
              <a:buSzPts val="2800"/>
              <a:buAutoNum type="arabicPeriod"/>
            </a:pPr>
            <a:r>
              <a:rPr lang="en-US" dirty="0">
                <a:latin typeface="Times New Roman"/>
                <a:ea typeface="Times New Roman"/>
                <a:cs typeface="Times New Roman"/>
                <a:sym typeface="Times New Roman"/>
              </a:rPr>
              <a:t>Technologies used</a:t>
            </a:r>
            <a:endParaRPr dirty="0"/>
          </a:p>
          <a:p>
            <a:pPr marL="514350" lvl="0" indent="-514350" algn="l" rtl="0">
              <a:lnSpc>
                <a:spcPct val="90000"/>
              </a:lnSpc>
              <a:spcBef>
                <a:spcPts val="1000"/>
              </a:spcBef>
              <a:spcAft>
                <a:spcPts val="0"/>
              </a:spcAft>
              <a:buClr>
                <a:schemeClr val="dk1"/>
              </a:buClr>
              <a:buSzPts val="2800"/>
              <a:buAutoNum type="arabicPeriod"/>
            </a:pPr>
            <a:r>
              <a:rPr lang="en-US" dirty="0">
                <a:latin typeface="Times New Roman"/>
                <a:ea typeface="Times New Roman"/>
                <a:cs typeface="Times New Roman"/>
                <a:sym typeface="Times New Roman"/>
              </a:rPr>
              <a:t>Team and role</a:t>
            </a:r>
            <a:endParaRPr dirty="0"/>
          </a:p>
          <a:p>
            <a:pPr marL="514350" lvl="0" indent="-514350" algn="l" rtl="0">
              <a:lnSpc>
                <a:spcPct val="90000"/>
              </a:lnSpc>
              <a:spcBef>
                <a:spcPts val="1000"/>
              </a:spcBef>
              <a:spcAft>
                <a:spcPts val="0"/>
              </a:spcAft>
              <a:buClr>
                <a:schemeClr val="dk1"/>
              </a:buClr>
              <a:buSzPts val="2800"/>
              <a:buAutoNum type="arabicPeriod"/>
            </a:pPr>
            <a:r>
              <a:rPr lang="en-US" dirty="0">
                <a:latin typeface="Times New Roman"/>
                <a:ea typeface="Times New Roman"/>
                <a:cs typeface="Times New Roman"/>
                <a:sym typeface="Times New Roman"/>
              </a:rPr>
              <a:t>Results and snapshots</a:t>
            </a:r>
            <a:endParaRPr dirty="0"/>
          </a:p>
          <a:p>
            <a:pPr marL="514350" lvl="0" indent="-514350" algn="l" rtl="0">
              <a:lnSpc>
                <a:spcPct val="90000"/>
              </a:lnSpc>
              <a:spcBef>
                <a:spcPts val="1000"/>
              </a:spcBef>
              <a:spcAft>
                <a:spcPts val="0"/>
              </a:spcAft>
              <a:buClr>
                <a:schemeClr val="dk1"/>
              </a:buClr>
              <a:buSzPts val="2800"/>
              <a:buAutoNum type="arabicPeriod"/>
            </a:pPr>
            <a:r>
              <a:rPr lang="en-US" dirty="0">
                <a:latin typeface="Times New Roman"/>
                <a:ea typeface="Times New Roman"/>
                <a:cs typeface="Times New Roman"/>
                <a:sym typeface="Times New Roman"/>
              </a:rPr>
              <a:t>Conclusion</a:t>
            </a:r>
          </a:p>
          <a:p>
            <a:pPr marL="514350" lvl="0" indent="-514350" algn="l" rtl="0">
              <a:lnSpc>
                <a:spcPct val="90000"/>
              </a:lnSpc>
              <a:spcBef>
                <a:spcPts val="1000"/>
              </a:spcBef>
              <a:spcAft>
                <a:spcPts val="0"/>
              </a:spcAft>
              <a:buClr>
                <a:schemeClr val="dk1"/>
              </a:buClr>
              <a:buSzPts val="2800"/>
              <a:buAutoNum type="arabicPeriod"/>
            </a:pPr>
            <a:r>
              <a:rPr lang="en-US" dirty="0">
                <a:latin typeface="Times New Roman"/>
                <a:ea typeface="Times New Roman"/>
                <a:cs typeface="Times New Roman"/>
                <a:sym typeface="Times New Roman"/>
              </a:rPr>
              <a:t>Internship Completion certificate/status</a:t>
            </a:r>
            <a:endParaRPr dirty="0">
              <a:latin typeface="Times New Roman"/>
              <a:ea typeface="Times New Roman"/>
              <a:cs typeface="Times New Roman"/>
              <a:sym typeface="Times New Roman"/>
            </a:endParaRPr>
          </a:p>
        </p:txBody>
      </p:sp>
      <p:pic>
        <p:nvPicPr>
          <p:cNvPr id="103" name="Google Shape;103;p2"/>
          <p:cNvPicPr preferRelativeResize="0"/>
          <p:nvPr/>
        </p:nvPicPr>
        <p:blipFill rotWithShape="1">
          <a:blip r:embed="rId3">
            <a:alphaModFix/>
          </a:blip>
          <a:srcRect/>
          <a:stretch/>
        </p:blipFill>
        <p:spPr>
          <a:xfrm>
            <a:off x="9574057" y="1"/>
            <a:ext cx="2389240" cy="791852"/>
          </a:xfrm>
          <a:prstGeom prst="rect">
            <a:avLst/>
          </a:prstGeom>
          <a:noFill/>
          <a:ln>
            <a:noFill/>
          </a:ln>
        </p:spPr>
      </p:pic>
      <p:pic>
        <p:nvPicPr>
          <p:cNvPr id="104" name="Google Shape;104;p2"/>
          <p:cNvPicPr preferRelativeResize="0"/>
          <p:nvPr/>
        </p:nvPicPr>
        <p:blipFill rotWithShape="1">
          <a:blip r:embed="rId4">
            <a:alphaModFix/>
          </a:blip>
          <a:srcRect/>
          <a:stretch/>
        </p:blipFill>
        <p:spPr>
          <a:xfrm>
            <a:off x="70433" y="36724"/>
            <a:ext cx="2757608" cy="873605"/>
          </a:xfrm>
          <a:prstGeom prst="rect">
            <a:avLst/>
          </a:prstGeom>
          <a:noFill/>
          <a:ln>
            <a:noFill/>
          </a:ln>
        </p:spPr>
      </p:pic>
      <p:sp>
        <p:nvSpPr>
          <p:cNvPr id="105" name="Google Shape;105;p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dirty="0"/>
              <a:t>16/4/2026</a:t>
            </a:r>
            <a:endParaRPr dirty="0"/>
          </a:p>
        </p:txBody>
      </p:sp>
      <p:sp>
        <p:nvSpPr>
          <p:cNvPr id="106" name="Google Shape;106;p2"/>
          <p:cNvSpPr txBox="1">
            <a:spLocks noGrp="1"/>
          </p:cNvSpPr>
          <p:nvPr>
            <p:ph type="ftr" idx="11"/>
          </p:nvPr>
        </p:nvSpPr>
        <p:spPr>
          <a:xfrm>
            <a:off x="4038600" y="6356350"/>
            <a:ext cx="44577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ENG22CT0052, Dept. of Computer Science &amp; Technology, </a:t>
            </a:r>
            <a:r>
              <a:rPr lang="en-US" dirty="0" err="1"/>
              <a:t>SoE</a:t>
            </a:r>
            <a:r>
              <a:rPr lang="en-US" dirty="0"/>
              <a:t>, DSU</a:t>
            </a:r>
            <a:endParaRPr dirty="0"/>
          </a:p>
        </p:txBody>
      </p:sp>
      <p:sp>
        <p:nvSpPr>
          <p:cNvPr id="107" name="Google Shape;107;p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2</a:t>
            </a:fld>
            <a:endParaRP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6800" y="36724"/>
            <a:ext cx="2120900" cy="941926"/>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3"/>
          <p:cNvSpPr txBox="1">
            <a:spLocks noGrp="1"/>
          </p:cNvSpPr>
          <p:nvPr>
            <p:ph type="title"/>
          </p:nvPr>
        </p:nvSpPr>
        <p:spPr>
          <a:xfrm>
            <a:off x="838200" y="978650"/>
            <a:ext cx="10515600" cy="1325563"/>
          </a:xfrm>
          <a:prstGeom prst="rect">
            <a:avLst/>
          </a:prstGeom>
          <a:noFill/>
          <a:ln>
            <a:noFill/>
          </a:ln>
        </p:spPr>
        <p:txBody>
          <a:bodyPr spcFirstLastPara="1" wrap="square" lIns="91425" tIns="45700" rIns="91425" bIns="45700" anchor="ctr" anchorCtr="0">
            <a:normAutofit/>
          </a:bodyPr>
          <a:lstStyle/>
          <a:p>
            <a:pPr lvl="0">
              <a:spcBef>
                <a:spcPts val="1000"/>
              </a:spcBef>
            </a:pPr>
            <a:r>
              <a:rPr lang="en-US" b="1" dirty="0">
                <a:latin typeface="Times New Roman"/>
                <a:ea typeface="Times New Roman"/>
                <a:cs typeface="Times New Roman"/>
                <a:sym typeface="Times New Roman"/>
              </a:rPr>
              <a:t>1. About the Company</a:t>
            </a:r>
            <a:endParaRPr lang="en-US" b="1" dirty="0"/>
          </a:p>
        </p:txBody>
      </p:sp>
      <p:sp>
        <p:nvSpPr>
          <p:cNvPr id="114" name="Google Shape;114;p3"/>
          <p:cNvSpPr txBox="1">
            <a:spLocks noGrp="1"/>
          </p:cNvSpPr>
          <p:nvPr>
            <p:ph type="body" idx="1"/>
          </p:nvPr>
        </p:nvSpPr>
        <p:spPr>
          <a:xfrm>
            <a:off x="787400" y="2181389"/>
            <a:ext cx="10515600" cy="3754274"/>
          </a:xfrm>
          <a:prstGeom prst="rect">
            <a:avLst/>
          </a:prstGeom>
          <a:noFill/>
          <a:ln>
            <a:noFill/>
          </a:ln>
        </p:spPr>
        <p:txBody>
          <a:bodyPr spcFirstLastPara="1" wrap="square" lIns="91425" tIns="45700" rIns="91425" bIns="45700" anchor="t" anchorCtr="0">
            <a:normAutofit/>
          </a:bodyPr>
          <a:lstStyle/>
          <a:p>
            <a:pPr marL="635000" indent="-457200" algn="just">
              <a:spcBef>
                <a:spcPts val="0"/>
              </a:spcBef>
              <a:buSzPts val="2800"/>
            </a:pPr>
            <a:r>
              <a:rPr lang="en-US" b="1" dirty="0" err="1">
                <a:latin typeface="Times New Roman"/>
                <a:ea typeface="Times New Roman"/>
                <a:cs typeface="Times New Roman"/>
                <a:sym typeface="Times New Roman"/>
              </a:rPr>
              <a:t>CodTech</a:t>
            </a:r>
            <a:r>
              <a:rPr lang="en-US" dirty="0">
                <a:latin typeface="Times New Roman"/>
                <a:ea typeface="Times New Roman"/>
                <a:cs typeface="Times New Roman"/>
                <a:sym typeface="Times New Roman"/>
              </a:rPr>
              <a:t> is a platform that provides industry-oriented internship programs in various technical domains such as Data Analysis, Machine Learning, and Web Development.</a:t>
            </a:r>
          </a:p>
          <a:p>
            <a:pPr marL="635000" indent="-457200" algn="just">
              <a:spcBef>
                <a:spcPts val="0"/>
              </a:spcBef>
              <a:buSzPts val="2800"/>
            </a:pPr>
            <a:endParaRPr lang="en-US" dirty="0">
              <a:latin typeface="Times New Roman"/>
              <a:ea typeface="Times New Roman"/>
              <a:cs typeface="Times New Roman"/>
              <a:sym typeface="Times New Roman"/>
            </a:endParaRPr>
          </a:p>
          <a:p>
            <a:pPr marL="635000" indent="-457200" algn="just">
              <a:spcBef>
                <a:spcPts val="0"/>
              </a:spcBef>
              <a:buSzPts val="2800"/>
            </a:pPr>
            <a:r>
              <a:rPr lang="en-US" dirty="0">
                <a:latin typeface="Times New Roman"/>
                <a:ea typeface="Times New Roman"/>
                <a:cs typeface="Times New Roman"/>
                <a:sym typeface="Times New Roman"/>
              </a:rPr>
              <a:t>The organization focuses on practical learning by assigning real-world tasks that help students gain hands-on experience.</a:t>
            </a:r>
          </a:p>
          <a:p>
            <a:pPr marL="635000" indent="-457200" algn="just">
              <a:spcBef>
                <a:spcPts val="0"/>
              </a:spcBef>
              <a:buSzPts val="2800"/>
            </a:pPr>
            <a:endParaRPr lang="en-US" dirty="0">
              <a:latin typeface="Times New Roman"/>
              <a:ea typeface="Times New Roman"/>
              <a:cs typeface="Times New Roman"/>
              <a:sym typeface="Times New Roman"/>
            </a:endParaRPr>
          </a:p>
          <a:p>
            <a:pPr marL="635000" indent="-457200" algn="just">
              <a:spcBef>
                <a:spcPts val="0"/>
              </a:spcBef>
              <a:buSzPts val="2800"/>
            </a:pPr>
            <a:r>
              <a:rPr lang="en-US" dirty="0">
                <a:latin typeface="Times New Roman"/>
                <a:ea typeface="Times New Roman"/>
                <a:cs typeface="Times New Roman"/>
                <a:sym typeface="Times New Roman"/>
              </a:rPr>
              <a:t>The internship program is designed to enhance technical skills, analytical thinking, and problem-solving abilities of students.</a:t>
            </a:r>
            <a:endParaRPr dirty="0">
              <a:latin typeface="Times New Roman"/>
              <a:ea typeface="Times New Roman"/>
              <a:cs typeface="Times New Roman"/>
              <a:sym typeface="Times New Roman"/>
            </a:endParaRPr>
          </a:p>
        </p:txBody>
      </p:sp>
      <p:pic>
        <p:nvPicPr>
          <p:cNvPr id="115" name="Google Shape;115;p3"/>
          <p:cNvPicPr preferRelativeResize="0"/>
          <p:nvPr/>
        </p:nvPicPr>
        <p:blipFill rotWithShape="1">
          <a:blip r:embed="rId3">
            <a:alphaModFix/>
          </a:blip>
          <a:srcRect/>
          <a:stretch/>
        </p:blipFill>
        <p:spPr>
          <a:xfrm>
            <a:off x="9574057" y="1"/>
            <a:ext cx="2389240" cy="791852"/>
          </a:xfrm>
          <a:prstGeom prst="rect">
            <a:avLst/>
          </a:prstGeom>
          <a:noFill/>
          <a:ln>
            <a:noFill/>
          </a:ln>
        </p:spPr>
      </p:pic>
      <p:pic>
        <p:nvPicPr>
          <p:cNvPr id="116" name="Google Shape;116;p3"/>
          <p:cNvPicPr preferRelativeResize="0"/>
          <p:nvPr/>
        </p:nvPicPr>
        <p:blipFill rotWithShape="1">
          <a:blip r:embed="rId4">
            <a:alphaModFix/>
          </a:blip>
          <a:srcRect/>
          <a:stretch/>
        </p:blipFill>
        <p:spPr>
          <a:xfrm>
            <a:off x="70433" y="36724"/>
            <a:ext cx="2757608" cy="873605"/>
          </a:xfrm>
          <a:prstGeom prst="rect">
            <a:avLst/>
          </a:prstGeom>
          <a:noFill/>
          <a:ln>
            <a:noFill/>
          </a:ln>
        </p:spPr>
      </p:pic>
      <p:sp>
        <p:nvSpPr>
          <p:cNvPr id="117" name="Google Shape;117;p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dirty="0"/>
              <a:t>16/4/2026</a:t>
            </a:r>
            <a:endParaRPr dirty="0"/>
          </a:p>
        </p:txBody>
      </p:sp>
      <p:sp>
        <p:nvSpPr>
          <p:cNvPr id="118" name="Google Shape;118;p3"/>
          <p:cNvSpPr txBox="1">
            <a:spLocks noGrp="1"/>
          </p:cNvSpPr>
          <p:nvPr>
            <p:ph type="ftr" idx="11"/>
          </p:nvPr>
        </p:nvSpPr>
        <p:spPr>
          <a:xfrm>
            <a:off x="4038600" y="6356350"/>
            <a:ext cx="4368800" cy="365125"/>
          </a:xfrm>
          <a:prstGeom prst="rect">
            <a:avLst/>
          </a:prstGeom>
          <a:noFill/>
          <a:ln>
            <a:noFill/>
          </a:ln>
        </p:spPr>
        <p:txBody>
          <a:bodyPr spcFirstLastPara="1" wrap="square" lIns="91425" tIns="45700" rIns="91425" bIns="45700" anchor="ctr" anchorCtr="0">
            <a:noAutofit/>
          </a:bodyPr>
          <a:lstStyle/>
          <a:p>
            <a:pPr lvl="0"/>
            <a:r>
              <a:rPr lang="en-US" dirty="0"/>
              <a:t>ENG22CT0052, Dept. of Computer Science &amp; Technology, </a:t>
            </a:r>
            <a:r>
              <a:rPr lang="en-US" dirty="0" err="1"/>
              <a:t>SoE</a:t>
            </a:r>
            <a:r>
              <a:rPr lang="en-US" dirty="0"/>
              <a:t>, DSU</a:t>
            </a:r>
          </a:p>
        </p:txBody>
      </p:sp>
      <p:sp>
        <p:nvSpPr>
          <p:cNvPr id="119" name="Google Shape;119;p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3</a:t>
            </a:fld>
            <a:endParaRP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40599" y="36724"/>
            <a:ext cx="2120900" cy="9419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4"/>
          <p:cNvSpPr txBox="1">
            <a:spLocks noGrp="1"/>
          </p:cNvSpPr>
          <p:nvPr>
            <p:ph type="title"/>
          </p:nvPr>
        </p:nvSpPr>
        <p:spPr>
          <a:xfrm>
            <a:off x="1006749" y="802544"/>
            <a:ext cx="10515600" cy="1325563"/>
          </a:xfrm>
          <a:prstGeom prst="rect">
            <a:avLst/>
          </a:prstGeom>
          <a:noFill/>
          <a:ln>
            <a:noFill/>
          </a:ln>
        </p:spPr>
        <p:txBody>
          <a:bodyPr spcFirstLastPara="1" wrap="square" lIns="91425" tIns="45700" rIns="91425" bIns="45700" anchor="ctr" anchorCtr="0">
            <a:normAutofit/>
          </a:bodyPr>
          <a:lstStyle/>
          <a:p>
            <a:pPr marL="514350" lvl="0" indent="-514350">
              <a:spcBef>
                <a:spcPts val="1000"/>
              </a:spcBef>
            </a:pPr>
            <a:r>
              <a:rPr lang="en-US" b="1" dirty="0">
                <a:latin typeface="Times New Roman"/>
                <a:ea typeface="Times New Roman"/>
                <a:cs typeface="Times New Roman"/>
                <a:sym typeface="Times New Roman"/>
              </a:rPr>
              <a:t>2. Assigned Project</a:t>
            </a:r>
            <a:endParaRPr lang="en-US" b="1" dirty="0"/>
          </a:p>
        </p:txBody>
      </p:sp>
      <p:sp>
        <p:nvSpPr>
          <p:cNvPr id="126" name="Google Shape;126;p4"/>
          <p:cNvSpPr txBox="1">
            <a:spLocks noGrp="1"/>
          </p:cNvSpPr>
          <p:nvPr>
            <p:ph type="body" idx="1"/>
          </p:nvPr>
        </p:nvSpPr>
        <p:spPr>
          <a:xfrm>
            <a:off x="838200" y="2008909"/>
            <a:ext cx="10515600" cy="4168054"/>
          </a:xfrm>
          <a:prstGeom prst="rect">
            <a:avLst/>
          </a:prstGeom>
          <a:noFill/>
          <a:ln>
            <a:noFill/>
          </a:ln>
        </p:spPr>
        <p:txBody>
          <a:bodyPr spcFirstLastPara="1" wrap="square" lIns="91425" tIns="45700" rIns="91425" bIns="45700" anchor="t" anchorCtr="0">
            <a:noAutofit/>
          </a:bodyPr>
          <a:lstStyle/>
          <a:p>
            <a:pPr marL="114300" indent="0">
              <a:buNone/>
            </a:pPr>
            <a:r>
              <a:rPr lang="en-US" b="1" dirty="0">
                <a:latin typeface="Times New Roman" panose="02020603050405020304" pitchFamily="18" charset="0"/>
                <a:cs typeface="Times New Roman" panose="02020603050405020304" pitchFamily="18" charset="0"/>
              </a:rPr>
              <a:t>The internship project includes multiple data analysis tasks:</a:t>
            </a:r>
          </a:p>
          <a:p>
            <a:r>
              <a:rPr lang="en-US" dirty="0">
                <a:latin typeface="Times New Roman" panose="02020603050405020304" pitchFamily="18" charset="0"/>
                <a:cs typeface="Times New Roman" panose="02020603050405020304" pitchFamily="18" charset="0"/>
              </a:rPr>
              <a:t>Exploratory Data Analysis (EDA) </a:t>
            </a:r>
          </a:p>
          <a:p>
            <a:r>
              <a:rPr lang="en-US" dirty="0">
                <a:latin typeface="Times New Roman" panose="02020603050405020304" pitchFamily="18" charset="0"/>
                <a:cs typeface="Times New Roman" panose="02020603050405020304" pitchFamily="18" charset="0"/>
              </a:rPr>
              <a:t>House Price Prediction (Machine Learning) </a:t>
            </a:r>
          </a:p>
          <a:p>
            <a:r>
              <a:rPr lang="en-US" dirty="0">
                <a:latin typeface="Times New Roman" panose="02020603050405020304" pitchFamily="18" charset="0"/>
                <a:cs typeface="Times New Roman" panose="02020603050405020304" pitchFamily="18" charset="0"/>
              </a:rPr>
              <a:t>Sales Dashboard Development </a:t>
            </a:r>
          </a:p>
          <a:p>
            <a:r>
              <a:rPr lang="en-US" dirty="0">
                <a:latin typeface="Times New Roman" panose="02020603050405020304" pitchFamily="18" charset="0"/>
                <a:cs typeface="Times New Roman" panose="02020603050405020304" pitchFamily="18" charset="0"/>
              </a:rPr>
              <a:t>Sentiment Analysis using NLP </a:t>
            </a:r>
          </a:p>
          <a:p>
            <a:pPr marL="114300" indent="0">
              <a:buNone/>
            </a:pPr>
            <a:r>
              <a:rPr lang="en-US" b="1" dirty="0">
                <a:latin typeface="Times New Roman" panose="02020603050405020304" pitchFamily="18" charset="0"/>
                <a:cs typeface="Times New Roman" panose="02020603050405020304" pitchFamily="18" charset="0"/>
              </a:rPr>
              <a:t>Goal:</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To understand real-world data handling and build practical solutions</a:t>
            </a:r>
          </a:p>
        </p:txBody>
      </p:sp>
      <p:pic>
        <p:nvPicPr>
          <p:cNvPr id="127" name="Google Shape;127;p4"/>
          <p:cNvPicPr preferRelativeResize="0"/>
          <p:nvPr/>
        </p:nvPicPr>
        <p:blipFill rotWithShape="1">
          <a:blip r:embed="rId3">
            <a:alphaModFix/>
          </a:blip>
          <a:srcRect/>
          <a:stretch/>
        </p:blipFill>
        <p:spPr>
          <a:xfrm>
            <a:off x="9574057" y="1"/>
            <a:ext cx="2389240" cy="791852"/>
          </a:xfrm>
          <a:prstGeom prst="rect">
            <a:avLst/>
          </a:prstGeom>
          <a:noFill/>
          <a:ln>
            <a:noFill/>
          </a:ln>
        </p:spPr>
      </p:pic>
      <p:pic>
        <p:nvPicPr>
          <p:cNvPr id="128" name="Google Shape;128;p4"/>
          <p:cNvPicPr preferRelativeResize="0"/>
          <p:nvPr/>
        </p:nvPicPr>
        <p:blipFill rotWithShape="1">
          <a:blip r:embed="rId4">
            <a:alphaModFix/>
          </a:blip>
          <a:srcRect/>
          <a:stretch/>
        </p:blipFill>
        <p:spPr>
          <a:xfrm>
            <a:off x="70433" y="36724"/>
            <a:ext cx="2757608" cy="873605"/>
          </a:xfrm>
          <a:prstGeom prst="rect">
            <a:avLst/>
          </a:prstGeom>
          <a:noFill/>
          <a:ln>
            <a:noFill/>
          </a:ln>
        </p:spPr>
      </p:pic>
      <p:sp>
        <p:nvSpPr>
          <p:cNvPr id="129" name="Google Shape;129;p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dirty="0"/>
              <a:t>16/4/2026</a:t>
            </a:r>
            <a:endParaRPr dirty="0"/>
          </a:p>
        </p:txBody>
      </p:sp>
      <p:sp>
        <p:nvSpPr>
          <p:cNvPr id="130" name="Google Shape;130;p4"/>
          <p:cNvSpPr txBox="1">
            <a:spLocks noGrp="1"/>
          </p:cNvSpPr>
          <p:nvPr>
            <p:ph type="ftr" idx="11"/>
          </p:nvPr>
        </p:nvSpPr>
        <p:spPr>
          <a:xfrm>
            <a:off x="4038600" y="6356350"/>
            <a:ext cx="44069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ENG22CT0052, Dept. of Computer Science &amp; Technology, </a:t>
            </a:r>
            <a:r>
              <a:rPr lang="en-US" dirty="0" err="1"/>
              <a:t>SoE</a:t>
            </a:r>
            <a:r>
              <a:rPr lang="en-US" dirty="0"/>
              <a:t>, DSU</a:t>
            </a:r>
            <a:endParaRPr dirty="0"/>
          </a:p>
        </p:txBody>
      </p:sp>
      <p:sp>
        <p:nvSpPr>
          <p:cNvPr id="131" name="Google Shape;131;p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4</a:t>
            </a:fld>
            <a:endParaRP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140599" y="46730"/>
            <a:ext cx="2120900" cy="94192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971550" y="1030675"/>
            <a:ext cx="10515600" cy="935382"/>
          </a:xfrm>
          <a:prstGeom prst="rect">
            <a:avLst/>
          </a:prstGeom>
          <a:noFill/>
          <a:ln>
            <a:noFill/>
          </a:ln>
        </p:spPr>
        <p:txBody>
          <a:bodyPr spcFirstLastPara="1" wrap="square" lIns="91425" tIns="45700" rIns="91425" bIns="45700" anchor="ctr" anchorCtr="0">
            <a:normAutofit fontScale="90000"/>
          </a:bodyPr>
          <a:lstStyle/>
          <a:p>
            <a:pPr>
              <a:buSzPts val="4400"/>
            </a:pPr>
            <a:br>
              <a:rPr lang="en-US" dirty="0">
                <a:latin typeface="Times New Roman"/>
                <a:ea typeface="Times New Roman"/>
                <a:cs typeface="Times New Roman"/>
                <a:sym typeface="Times New Roman"/>
              </a:rPr>
            </a:br>
            <a:r>
              <a:rPr lang="en-US" sz="4900" b="1" dirty="0">
                <a:latin typeface="Times New Roman"/>
                <a:ea typeface="Times New Roman"/>
                <a:cs typeface="Times New Roman"/>
                <a:sym typeface="Times New Roman"/>
              </a:rPr>
              <a:t>3. Technologies Used</a:t>
            </a:r>
            <a:br>
              <a:rPr lang="en-US" dirty="0"/>
            </a:br>
            <a:endParaRPr dirty="0">
              <a:latin typeface="Times New Roman"/>
              <a:ea typeface="Times New Roman"/>
              <a:cs typeface="Times New Roman"/>
              <a:sym typeface="Times New Roman"/>
            </a:endParaRPr>
          </a:p>
        </p:txBody>
      </p:sp>
      <p:sp>
        <p:nvSpPr>
          <p:cNvPr id="138" name="Google Shape;138;p5"/>
          <p:cNvSpPr txBox="1">
            <a:spLocks noGrp="1"/>
          </p:cNvSpPr>
          <p:nvPr>
            <p:ph type="body" idx="1"/>
          </p:nvPr>
        </p:nvSpPr>
        <p:spPr>
          <a:xfrm>
            <a:off x="835025" y="1779259"/>
            <a:ext cx="10788650" cy="4577091"/>
          </a:xfrm>
          <a:prstGeom prst="rect">
            <a:avLst/>
          </a:prstGeom>
          <a:noFill/>
          <a:ln>
            <a:noFill/>
          </a:ln>
        </p:spPr>
        <p:txBody>
          <a:bodyPr spcFirstLastPara="1" wrap="square" lIns="91425" tIns="45700" rIns="91425" bIns="45700" anchor="t" anchorCtr="0">
            <a:noAutofit/>
          </a:bodyPr>
          <a:lstStyle/>
          <a:p>
            <a:pPr marL="114300" indent="0">
              <a:buNone/>
            </a:pPr>
            <a:r>
              <a:rPr lang="en-IN" sz="2000" b="1" dirty="0">
                <a:latin typeface="Times New Roman" panose="02020603050405020304" pitchFamily="18" charset="0"/>
                <a:cs typeface="Times New Roman" panose="02020603050405020304" pitchFamily="18" charset="0"/>
              </a:rPr>
              <a:t>Programming Language:</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Python </a:t>
            </a:r>
          </a:p>
          <a:p>
            <a:pPr marL="114300" indent="0">
              <a:buNone/>
            </a:pPr>
            <a:r>
              <a:rPr lang="en-IN" sz="2000" b="1" dirty="0">
                <a:latin typeface="Times New Roman" panose="02020603050405020304" pitchFamily="18" charset="0"/>
                <a:cs typeface="Times New Roman" panose="02020603050405020304" pitchFamily="18" charset="0"/>
              </a:rPr>
              <a:t>Libraries: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Pandas – data manipulation </a:t>
            </a:r>
          </a:p>
          <a:p>
            <a:r>
              <a:rPr lang="en-IN" sz="2000" dirty="0">
                <a:latin typeface="Times New Roman" panose="02020603050405020304" pitchFamily="18" charset="0"/>
                <a:cs typeface="Times New Roman" panose="02020603050405020304" pitchFamily="18" charset="0"/>
              </a:rPr>
              <a:t>NumPy – numerical operations </a:t>
            </a:r>
          </a:p>
          <a:p>
            <a:r>
              <a:rPr lang="en-IN" sz="2000" dirty="0">
                <a:latin typeface="Times New Roman" panose="02020603050405020304" pitchFamily="18" charset="0"/>
                <a:cs typeface="Times New Roman" panose="02020603050405020304" pitchFamily="18" charset="0"/>
              </a:rPr>
              <a:t>Matplotlib &amp; Seaborn – visualization </a:t>
            </a:r>
          </a:p>
          <a:p>
            <a:r>
              <a:rPr lang="en-IN" sz="2000" dirty="0">
                <a:latin typeface="Times New Roman" panose="02020603050405020304" pitchFamily="18" charset="0"/>
                <a:cs typeface="Times New Roman" panose="02020603050405020304" pitchFamily="18" charset="0"/>
              </a:rPr>
              <a:t>Scikit-learn – machine learning </a:t>
            </a:r>
          </a:p>
          <a:p>
            <a:pPr marL="114300" indent="0">
              <a:buNone/>
            </a:pPr>
            <a:r>
              <a:rPr lang="en-IN" sz="2000" b="1" dirty="0">
                <a:latin typeface="Times New Roman" panose="02020603050405020304" pitchFamily="18" charset="0"/>
                <a:cs typeface="Times New Roman" panose="02020603050405020304" pitchFamily="18" charset="0"/>
              </a:rPr>
              <a:t>Tools:</a:t>
            </a:r>
            <a:endParaRPr lang="en-IN" sz="2000" dirty="0">
              <a:latin typeface="Times New Roman" panose="02020603050405020304" pitchFamily="18" charset="0"/>
              <a:cs typeface="Times New Roman" panose="02020603050405020304" pitchFamily="18" charset="0"/>
            </a:endParaRPr>
          </a:p>
          <a:p>
            <a:r>
              <a:rPr lang="en-IN" sz="2000" dirty="0">
                <a:latin typeface="Times New Roman" panose="02020603050405020304" pitchFamily="18" charset="0"/>
                <a:cs typeface="Times New Roman" panose="02020603050405020304" pitchFamily="18" charset="0"/>
              </a:rPr>
              <a:t>VS Code </a:t>
            </a:r>
          </a:p>
          <a:p>
            <a:r>
              <a:rPr lang="en-IN" sz="2000" dirty="0" err="1">
                <a:latin typeface="Times New Roman" panose="02020603050405020304" pitchFamily="18" charset="0"/>
                <a:cs typeface="Times New Roman" panose="02020603050405020304" pitchFamily="18" charset="0"/>
              </a:rPr>
              <a:t>Jupyter</a:t>
            </a:r>
            <a:r>
              <a:rPr lang="en-IN" sz="2000" dirty="0">
                <a:latin typeface="Times New Roman" panose="02020603050405020304" pitchFamily="18" charset="0"/>
                <a:cs typeface="Times New Roman" panose="02020603050405020304" pitchFamily="18" charset="0"/>
              </a:rPr>
              <a:t> Notebook </a:t>
            </a:r>
          </a:p>
          <a:p>
            <a:r>
              <a:rPr lang="en-IN" sz="2000" dirty="0">
                <a:latin typeface="Times New Roman" panose="02020603050405020304" pitchFamily="18" charset="0"/>
                <a:cs typeface="Times New Roman" panose="02020603050405020304" pitchFamily="18" charset="0"/>
              </a:rPr>
              <a:t>Dash &amp; Plotly (Dashboard)</a:t>
            </a:r>
          </a:p>
        </p:txBody>
      </p:sp>
      <p:pic>
        <p:nvPicPr>
          <p:cNvPr id="139" name="Google Shape;139;p5"/>
          <p:cNvPicPr preferRelativeResize="0"/>
          <p:nvPr/>
        </p:nvPicPr>
        <p:blipFill rotWithShape="1">
          <a:blip r:embed="rId3">
            <a:alphaModFix/>
          </a:blip>
          <a:srcRect/>
          <a:stretch/>
        </p:blipFill>
        <p:spPr>
          <a:xfrm>
            <a:off x="9574057" y="0"/>
            <a:ext cx="2389240" cy="791852"/>
          </a:xfrm>
          <a:prstGeom prst="rect">
            <a:avLst/>
          </a:prstGeom>
          <a:noFill/>
          <a:ln>
            <a:noFill/>
          </a:ln>
        </p:spPr>
      </p:pic>
      <p:pic>
        <p:nvPicPr>
          <p:cNvPr id="140" name="Google Shape;140;p5"/>
          <p:cNvPicPr preferRelativeResize="0"/>
          <p:nvPr/>
        </p:nvPicPr>
        <p:blipFill rotWithShape="1">
          <a:blip r:embed="rId4">
            <a:alphaModFix/>
          </a:blip>
          <a:srcRect/>
          <a:stretch/>
        </p:blipFill>
        <p:spPr>
          <a:xfrm>
            <a:off x="70433" y="36724"/>
            <a:ext cx="2757608" cy="873605"/>
          </a:xfrm>
          <a:prstGeom prst="rect">
            <a:avLst/>
          </a:prstGeom>
          <a:noFill/>
          <a:ln>
            <a:noFill/>
          </a:ln>
        </p:spPr>
      </p:pic>
      <p:sp>
        <p:nvSpPr>
          <p:cNvPr id="141" name="Google Shape;141;p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dirty="0"/>
              <a:t>16/4/2026</a:t>
            </a:r>
            <a:endParaRPr dirty="0"/>
          </a:p>
        </p:txBody>
      </p:sp>
      <p:sp>
        <p:nvSpPr>
          <p:cNvPr id="142" name="Google Shape;142;p5"/>
          <p:cNvSpPr txBox="1">
            <a:spLocks noGrp="1"/>
          </p:cNvSpPr>
          <p:nvPr>
            <p:ph type="ftr" idx="11"/>
          </p:nvPr>
        </p:nvSpPr>
        <p:spPr>
          <a:xfrm>
            <a:off x="4038600" y="6356350"/>
            <a:ext cx="4381500" cy="365125"/>
          </a:xfrm>
          <a:prstGeom prst="rect">
            <a:avLst/>
          </a:prstGeom>
          <a:noFill/>
          <a:ln>
            <a:noFill/>
          </a:ln>
        </p:spPr>
        <p:txBody>
          <a:bodyPr spcFirstLastPara="1" wrap="square" lIns="91425" tIns="45700" rIns="91425" bIns="45700" anchor="ctr" anchorCtr="0">
            <a:noAutofit/>
          </a:bodyPr>
          <a:lstStyle/>
          <a:p>
            <a:pPr lvl="0"/>
            <a:r>
              <a:rPr lang="en-US" dirty="0"/>
              <a:t>ENG22CT0052, Dept. of Computer Science &amp; Technology, </a:t>
            </a:r>
            <a:r>
              <a:rPr lang="en-US" dirty="0" err="1"/>
              <a:t>SoE</a:t>
            </a:r>
            <a:r>
              <a:rPr lang="en-US" dirty="0"/>
              <a:t>, DSU</a:t>
            </a:r>
          </a:p>
        </p:txBody>
      </p:sp>
      <p:sp>
        <p:nvSpPr>
          <p:cNvPr id="143" name="Google Shape;143;p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5</a:t>
            </a:fld>
            <a:endParaRPr/>
          </a:p>
        </p:txBody>
      </p:sp>
      <p:pic>
        <p:nvPicPr>
          <p:cNvPr id="12" name="Pictur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984750" y="36724"/>
            <a:ext cx="2120900" cy="94192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040085"/>
            <a:ext cx="10515600" cy="1325563"/>
          </a:xfrm>
        </p:spPr>
        <p:txBody>
          <a:bodyPr>
            <a:normAutofit/>
          </a:bodyPr>
          <a:lstStyle/>
          <a:p>
            <a:pPr algn="ctr"/>
            <a:r>
              <a:rPr lang="en-US" sz="4000" b="1" dirty="0">
                <a:latin typeface="Times New Roman"/>
                <a:cs typeface="Times New Roman"/>
                <a:sym typeface="Times New Roman"/>
              </a:rPr>
              <a:t>RESULT</a:t>
            </a:r>
            <a:br>
              <a:rPr lang="en-US" sz="4000" b="1" dirty="0">
                <a:latin typeface="Times New Roman"/>
                <a:cs typeface="Times New Roman"/>
                <a:sym typeface="Times New Roman"/>
              </a:rPr>
            </a:br>
            <a:r>
              <a:rPr lang="en-US" sz="4000" b="1" dirty="0">
                <a:latin typeface="Times New Roman"/>
                <a:cs typeface="Times New Roman"/>
                <a:sym typeface="Times New Roman"/>
              </a:rPr>
              <a:t>Task1: Big Data Analysis </a:t>
            </a:r>
            <a:endParaRPr lang="en-US" sz="4000"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1917700"/>
            <a:ext cx="10515600" cy="4803775"/>
          </a:xfrm>
        </p:spPr>
        <p:txBody>
          <a:bodyPr>
            <a:normAutofit fontScale="25000" lnSpcReduction="20000"/>
          </a:bodyPr>
          <a:lstStyle/>
          <a:p>
            <a:pPr marL="114300" indent="0" algn="just">
              <a:buNone/>
            </a:pPr>
            <a:endParaRPr lang="en-US" b="1" dirty="0">
              <a:latin typeface="Times New Roman" panose="02020603050405020304" pitchFamily="18" charset="0"/>
              <a:cs typeface="Times New Roman" panose="02020603050405020304" pitchFamily="18" charset="0"/>
            </a:endParaRPr>
          </a:p>
          <a:p>
            <a:pPr marL="114300" indent="0">
              <a:buNone/>
            </a:pPr>
            <a:r>
              <a:rPr lang="en-IN" sz="9800" b="1" dirty="0">
                <a:latin typeface="Times New Roman" panose="02020603050405020304" pitchFamily="18" charset="0"/>
                <a:cs typeface="Times New Roman" panose="02020603050405020304" pitchFamily="18" charset="0"/>
              </a:rPr>
              <a:t>Description:</a:t>
            </a:r>
            <a:br>
              <a:rPr lang="en-IN" sz="9800" dirty="0">
                <a:latin typeface="Times New Roman" panose="02020603050405020304" pitchFamily="18" charset="0"/>
                <a:cs typeface="Times New Roman" panose="02020603050405020304" pitchFamily="18" charset="0"/>
              </a:rPr>
            </a:br>
            <a:r>
              <a:rPr lang="en-IN" sz="9800" dirty="0">
                <a:latin typeface="Times New Roman" panose="02020603050405020304" pitchFamily="18" charset="0"/>
                <a:cs typeface="Times New Roman" panose="02020603050405020304" pitchFamily="18" charset="0"/>
              </a:rPr>
              <a:t>Performed exploratory data analysis on dataset</a:t>
            </a:r>
          </a:p>
          <a:p>
            <a:pPr marL="114300" indent="0">
              <a:buNone/>
            </a:pPr>
            <a:r>
              <a:rPr lang="en-IN" sz="9800" b="1" dirty="0">
                <a:latin typeface="Times New Roman" panose="02020603050405020304" pitchFamily="18" charset="0"/>
                <a:cs typeface="Times New Roman" panose="02020603050405020304" pitchFamily="18" charset="0"/>
              </a:rPr>
              <a:t>Steps Performed:</a:t>
            </a:r>
            <a:endParaRPr lang="en-IN" sz="9800" dirty="0">
              <a:latin typeface="Times New Roman" panose="02020603050405020304" pitchFamily="18" charset="0"/>
              <a:cs typeface="Times New Roman" panose="02020603050405020304" pitchFamily="18" charset="0"/>
            </a:endParaRPr>
          </a:p>
          <a:p>
            <a:r>
              <a:rPr lang="en-IN" sz="9800" dirty="0">
                <a:latin typeface="Times New Roman" panose="02020603050405020304" pitchFamily="18" charset="0"/>
                <a:cs typeface="Times New Roman" panose="02020603050405020304" pitchFamily="18" charset="0"/>
              </a:rPr>
              <a:t>Loaded dataset using Pandas </a:t>
            </a:r>
          </a:p>
          <a:p>
            <a:r>
              <a:rPr lang="en-IN" sz="9800" dirty="0">
                <a:latin typeface="Times New Roman" panose="02020603050405020304" pitchFamily="18" charset="0"/>
                <a:cs typeface="Times New Roman" panose="02020603050405020304" pitchFamily="18" charset="0"/>
              </a:rPr>
              <a:t>Checked data using .info() and .describe() </a:t>
            </a:r>
          </a:p>
          <a:p>
            <a:r>
              <a:rPr lang="en-IN" sz="9800" dirty="0">
                <a:latin typeface="Times New Roman" panose="02020603050405020304" pitchFamily="18" charset="0"/>
                <a:cs typeface="Times New Roman" panose="02020603050405020304" pitchFamily="18" charset="0"/>
              </a:rPr>
              <a:t>Handled missing values </a:t>
            </a:r>
          </a:p>
          <a:p>
            <a:r>
              <a:rPr lang="en-IN" sz="9800" dirty="0">
                <a:latin typeface="Times New Roman" panose="02020603050405020304" pitchFamily="18" charset="0"/>
                <a:cs typeface="Times New Roman" panose="02020603050405020304" pitchFamily="18" charset="0"/>
              </a:rPr>
              <a:t>Created visualizations </a:t>
            </a:r>
          </a:p>
          <a:p>
            <a:pPr marL="114300" indent="0">
              <a:buNone/>
            </a:pPr>
            <a:r>
              <a:rPr lang="en-IN" sz="9800" b="1" dirty="0">
                <a:latin typeface="Times New Roman" panose="02020603050405020304" pitchFamily="18" charset="0"/>
                <a:cs typeface="Times New Roman" panose="02020603050405020304" pitchFamily="18" charset="0"/>
              </a:rPr>
              <a:t>Result:</a:t>
            </a:r>
            <a:br>
              <a:rPr lang="en-IN" sz="9800" dirty="0">
                <a:latin typeface="Times New Roman" panose="02020603050405020304" pitchFamily="18" charset="0"/>
                <a:cs typeface="Times New Roman" panose="02020603050405020304" pitchFamily="18" charset="0"/>
              </a:rPr>
            </a:br>
            <a:r>
              <a:rPr lang="en-IN" sz="9800" dirty="0">
                <a:latin typeface="Times New Roman" panose="02020603050405020304" pitchFamily="18" charset="0"/>
                <a:cs typeface="Times New Roman" panose="02020603050405020304" pitchFamily="18" charset="0"/>
              </a:rPr>
              <a:t>Identified patterns and trends</a:t>
            </a:r>
          </a:p>
          <a:p>
            <a:pPr marL="114300" indent="0">
              <a:buNone/>
            </a:pPr>
            <a:r>
              <a:rPr lang="en-IN" sz="9800" b="1" dirty="0">
                <a:latin typeface="Times New Roman" panose="02020603050405020304" pitchFamily="18" charset="0"/>
                <a:cs typeface="Times New Roman" panose="02020603050405020304" pitchFamily="18" charset="0"/>
              </a:rPr>
              <a:t>Outcome:</a:t>
            </a:r>
            <a:br>
              <a:rPr lang="en-IN" sz="9800" dirty="0">
                <a:latin typeface="Times New Roman" panose="02020603050405020304" pitchFamily="18" charset="0"/>
                <a:cs typeface="Times New Roman" panose="02020603050405020304" pitchFamily="18" charset="0"/>
              </a:rPr>
            </a:br>
            <a:r>
              <a:rPr lang="en-IN" sz="9800" dirty="0">
                <a:latin typeface="Times New Roman" panose="02020603050405020304" pitchFamily="18" charset="0"/>
                <a:cs typeface="Times New Roman" panose="02020603050405020304" pitchFamily="18" charset="0"/>
              </a:rPr>
              <a:t>Learned data preprocessing and visualization</a:t>
            </a:r>
          </a:p>
          <a:p>
            <a:pPr marL="114300" indent="0" algn="just">
              <a:buNone/>
            </a:pPr>
            <a:endParaRPr lang="en-US" dirty="0">
              <a:latin typeface="Times New Roman" panose="02020603050405020304" pitchFamily="18" charset="0"/>
              <a:cs typeface="Times New Roman" panose="02020603050405020304" pitchFamily="18" charset="0"/>
            </a:endParaRPr>
          </a:p>
          <a:p>
            <a:pPr marL="114300" lvl="0" indent="0" algn="just">
              <a:buNone/>
            </a:pPr>
            <a:r>
              <a:rPr lang="en-US" sz="4800" dirty="0">
                <a:solidFill>
                  <a:schemeClr val="bg1">
                    <a:lumMod val="50000"/>
                  </a:schemeClr>
                </a:solidFill>
              </a:rPr>
              <a:t>16/4/2026                                                                       ENG22CT0052, Dept. of Computer Science &amp; Technology, </a:t>
            </a:r>
            <a:r>
              <a:rPr lang="en-US" sz="4800" dirty="0" err="1">
                <a:solidFill>
                  <a:schemeClr val="bg1">
                    <a:lumMod val="50000"/>
                  </a:schemeClr>
                </a:solidFill>
              </a:rPr>
              <a:t>SoE</a:t>
            </a:r>
            <a:r>
              <a:rPr lang="en-US" sz="4800" dirty="0">
                <a:solidFill>
                  <a:schemeClr val="bg1">
                    <a:lumMod val="50000"/>
                  </a:schemeClr>
                </a:solidFill>
              </a:rPr>
              <a:t>, DSU</a:t>
            </a:r>
          </a:p>
          <a:p>
            <a:pPr marL="114300" indent="0" algn="just">
              <a:buNone/>
            </a:pPr>
            <a:endPar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6</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65750" y="0"/>
            <a:ext cx="2120900" cy="941926"/>
          </a:xfrm>
          <a:prstGeom prst="rect">
            <a:avLst/>
          </a:prstGeom>
        </p:spPr>
      </p:pic>
      <p:pic>
        <p:nvPicPr>
          <p:cNvPr id="6" name="Google Shape;140;p5"/>
          <p:cNvPicPr preferRelativeResize="0"/>
          <p:nvPr/>
        </p:nvPicPr>
        <p:blipFill rotWithShape="1">
          <a:blip r:embed="rId3">
            <a:alphaModFix/>
          </a:blip>
          <a:srcRect/>
          <a:stretch/>
        </p:blipFill>
        <p:spPr>
          <a:xfrm>
            <a:off x="0" y="68321"/>
            <a:ext cx="2757608" cy="873605"/>
          </a:xfrm>
          <a:prstGeom prst="rect">
            <a:avLst/>
          </a:prstGeom>
          <a:noFill/>
          <a:ln>
            <a:noFill/>
          </a:ln>
        </p:spPr>
      </p:pic>
      <p:pic>
        <p:nvPicPr>
          <p:cNvPr id="7" name="Google Shape;139;p5"/>
          <p:cNvPicPr preferRelativeResize="0"/>
          <p:nvPr/>
        </p:nvPicPr>
        <p:blipFill rotWithShape="1">
          <a:blip r:embed="rId4">
            <a:alphaModFix/>
          </a:blip>
          <a:srcRect/>
          <a:stretch/>
        </p:blipFill>
        <p:spPr>
          <a:xfrm>
            <a:off x="9703515" y="75037"/>
            <a:ext cx="2389240" cy="791852"/>
          </a:xfrm>
          <a:prstGeom prst="rect">
            <a:avLst/>
          </a:prstGeom>
          <a:noFill/>
          <a:ln>
            <a:noFill/>
          </a:ln>
        </p:spPr>
      </p:pic>
    </p:spTree>
    <p:extLst>
      <p:ext uri="{BB962C8B-B14F-4D97-AF65-F5344CB8AC3E}">
        <p14:creationId xmlns:p14="http://schemas.microsoft.com/office/powerpoint/2010/main" val="36209126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4F41C2-D64D-BAAD-BB73-688D594732E6}"/>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17B2986-0EB3-5BC5-468B-DB2CBB9216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a:t>
            </a:fld>
            <a:endParaRPr lang="en-US" dirty="0"/>
          </a:p>
        </p:txBody>
      </p:sp>
      <p:pic>
        <p:nvPicPr>
          <p:cNvPr id="9" name="Picture 8">
            <a:extLst>
              <a:ext uri="{FF2B5EF4-FFF2-40B4-BE49-F238E27FC236}">
                <a16:creationId xmlns:a16="http://schemas.microsoft.com/office/drawing/2014/main" id="{A36117BC-8B6E-B174-0EDE-BF1591998011}"/>
              </a:ext>
            </a:extLst>
          </p:cNvPr>
          <p:cNvPicPr>
            <a:picLocks noChangeAspect="1"/>
          </p:cNvPicPr>
          <p:nvPr/>
        </p:nvPicPr>
        <p:blipFill>
          <a:blip r:embed="rId3"/>
          <a:stretch>
            <a:fillRect/>
          </a:stretch>
        </p:blipFill>
        <p:spPr>
          <a:xfrm>
            <a:off x="2845788" y="136525"/>
            <a:ext cx="6500423" cy="5846286"/>
          </a:xfrm>
          <a:prstGeom prst="rect">
            <a:avLst/>
          </a:prstGeom>
        </p:spPr>
      </p:pic>
      <p:sp>
        <p:nvSpPr>
          <p:cNvPr id="3" name="TextBox 2">
            <a:extLst>
              <a:ext uri="{FF2B5EF4-FFF2-40B4-BE49-F238E27FC236}">
                <a16:creationId xmlns:a16="http://schemas.microsoft.com/office/drawing/2014/main" id="{3770C88C-2048-6671-6790-CF7E66577005}"/>
              </a:ext>
            </a:extLst>
          </p:cNvPr>
          <p:cNvSpPr txBox="1"/>
          <p:nvPr/>
        </p:nvSpPr>
        <p:spPr>
          <a:xfrm>
            <a:off x="2213966" y="5982811"/>
            <a:ext cx="7948605" cy="800219"/>
          </a:xfrm>
          <a:prstGeom prst="rect">
            <a:avLst/>
          </a:prstGeom>
          <a:noFill/>
        </p:spPr>
        <p:txBody>
          <a:bodyPr wrap="square">
            <a:spAutoFit/>
          </a:bodyPr>
          <a:lstStyle/>
          <a:p>
            <a:pPr indent="457200" algn="ctr">
              <a:buNone/>
            </a:pPr>
            <a:r>
              <a:rPr lang="en-IN" b="1" dirty="0">
                <a:effectLst/>
                <a:latin typeface="Times New Roman" panose="02020603050405020304" pitchFamily="18" charset="0"/>
                <a:ea typeface="Times New Roman" panose="02020603050405020304" pitchFamily="18" charset="0"/>
              </a:rPr>
              <a:t>Fig 1:</a:t>
            </a:r>
            <a:r>
              <a:rPr lang="en-IN" dirty="0">
                <a:effectLst/>
                <a:latin typeface="Times New Roman" panose="02020603050405020304" pitchFamily="18" charset="0"/>
                <a:ea typeface="Times New Roman" panose="02020603050405020304" pitchFamily="18" charset="0"/>
              </a:rPr>
              <a:t> </a:t>
            </a:r>
            <a:r>
              <a:rPr lang="en-IN" b="1" dirty="0">
                <a:effectLst/>
                <a:latin typeface="Times New Roman" panose="02020603050405020304" pitchFamily="18" charset="0"/>
                <a:ea typeface="Times New Roman" panose="02020603050405020304" pitchFamily="18" charset="0"/>
              </a:rPr>
              <a:t>Sales Distribution Across Different Countries</a:t>
            </a:r>
            <a:endParaRPr lang="en-IN" dirty="0">
              <a:effectLst/>
              <a:latin typeface="Times New Roman" panose="02020603050405020304" pitchFamily="18" charset="0"/>
              <a:ea typeface="Times New Roman" panose="02020603050405020304" pitchFamily="18" charset="0"/>
            </a:endParaRPr>
          </a:p>
          <a:p>
            <a:pPr algn="just">
              <a:buNone/>
            </a:pPr>
            <a:r>
              <a:rPr lang="en-IN" sz="1600" dirty="0">
                <a:effectLst/>
                <a:latin typeface="Times New Roman" panose="02020603050405020304" pitchFamily="18" charset="0"/>
                <a:ea typeface="Times New Roman" panose="02020603050405020304" pitchFamily="18" charset="0"/>
              </a:rPr>
              <a:t>This bar chart shows sales across different countries. It helps compare performance and identify which countries have higher or lower sales.</a:t>
            </a:r>
          </a:p>
        </p:txBody>
      </p:sp>
    </p:spTree>
    <p:extLst>
      <p:ext uri="{BB962C8B-B14F-4D97-AF65-F5344CB8AC3E}">
        <p14:creationId xmlns:p14="http://schemas.microsoft.com/office/powerpoint/2010/main" val="28020052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0275" y="1014397"/>
            <a:ext cx="11471449" cy="839788"/>
          </a:xfrm>
        </p:spPr>
        <p:txBody>
          <a:bodyPr>
            <a:normAutofit fontScale="90000"/>
          </a:bodyPr>
          <a:lstStyle/>
          <a:p>
            <a:pPr algn="ctr"/>
            <a:r>
              <a:rPr lang="en-US" b="1" dirty="0">
                <a:latin typeface="Times New Roman" panose="02020603050405020304" pitchFamily="18" charset="0"/>
                <a:cs typeface="Times New Roman" panose="02020603050405020304" pitchFamily="18" charset="0"/>
              </a:rPr>
              <a:t>Task 2: Machine Learning(</a:t>
            </a:r>
            <a:r>
              <a:rPr lang="en-IN" b="1" dirty="0">
                <a:latin typeface="Times New Roman" panose="02020603050405020304" pitchFamily="18" charset="0"/>
                <a:cs typeface="Times New Roman" panose="02020603050405020304" pitchFamily="18" charset="0"/>
              </a:rPr>
              <a:t>House Price Prediction)</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199" y="1854185"/>
            <a:ext cx="10515600" cy="4895851"/>
          </a:xfrm>
        </p:spPr>
        <p:txBody>
          <a:bodyPr>
            <a:normAutofit fontScale="85000" lnSpcReduction="20000"/>
          </a:bodyPr>
          <a:lstStyle/>
          <a:p>
            <a:pPr marL="114300" indent="0">
              <a:buNone/>
            </a:pPr>
            <a:r>
              <a:rPr lang="en-US" b="1" dirty="0">
                <a:latin typeface="Times New Roman" panose="02020603050405020304" pitchFamily="18" charset="0"/>
                <a:cs typeface="Times New Roman" panose="02020603050405020304" pitchFamily="18" charset="0"/>
              </a:rPr>
              <a:t>Description: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Built ML model to predict house prices</a:t>
            </a:r>
          </a:p>
          <a:p>
            <a:pPr marL="114300" indent="0">
              <a:buNone/>
            </a:pPr>
            <a:r>
              <a:rPr lang="en-US" b="1" dirty="0">
                <a:latin typeface="Times New Roman" panose="02020603050405020304" pitchFamily="18" charset="0"/>
                <a:cs typeface="Times New Roman" panose="02020603050405020304" pitchFamily="18" charset="0"/>
              </a:rPr>
              <a:t>Steps Performed: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Selected features and target variable </a:t>
            </a:r>
          </a:p>
          <a:p>
            <a:r>
              <a:rPr lang="en-US" dirty="0">
                <a:latin typeface="Times New Roman" panose="02020603050405020304" pitchFamily="18" charset="0"/>
                <a:cs typeface="Times New Roman" panose="02020603050405020304" pitchFamily="18" charset="0"/>
              </a:rPr>
              <a:t>Split dataset (train-test) </a:t>
            </a:r>
          </a:p>
          <a:p>
            <a:r>
              <a:rPr lang="en-US" dirty="0">
                <a:latin typeface="Times New Roman" panose="02020603050405020304" pitchFamily="18" charset="0"/>
                <a:cs typeface="Times New Roman" panose="02020603050405020304" pitchFamily="18" charset="0"/>
              </a:rPr>
              <a:t>Applied Linear Regression </a:t>
            </a:r>
          </a:p>
          <a:p>
            <a:r>
              <a:rPr lang="en-US" dirty="0">
                <a:latin typeface="Times New Roman" panose="02020603050405020304" pitchFamily="18" charset="0"/>
                <a:cs typeface="Times New Roman" panose="02020603050405020304" pitchFamily="18" charset="0"/>
              </a:rPr>
              <a:t>Evaluated using MSE &amp; R² score </a:t>
            </a:r>
          </a:p>
          <a:p>
            <a:pPr marL="114300" indent="0">
              <a:buNone/>
            </a:pPr>
            <a:r>
              <a:rPr lang="en-US" b="1" dirty="0">
                <a:latin typeface="Times New Roman" panose="02020603050405020304" pitchFamily="18" charset="0"/>
                <a:cs typeface="Times New Roman" panose="02020603050405020304" pitchFamily="18" charset="0"/>
              </a:rPr>
              <a:t>Result: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Model achieved good prediction accuracy</a:t>
            </a:r>
          </a:p>
          <a:p>
            <a:pPr marL="114300" indent="0">
              <a:buNone/>
            </a:pPr>
            <a:r>
              <a:rPr lang="en-US" b="1" dirty="0">
                <a:latin typeface="Times New Roman" panose="02020603050405020304" pitchFamily="18" charset="0"/>
                <a:cs typeface="Times New Roman" panose="02020603050405020304" pitchFamily="18" charset="0"/>
              </a:rPr>
              <a:t>Outcome: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Learned model training and evaluation</a:t>
            </a:r>
          </a:p>
          <a:p>
            <a:pPr marL="114300" indent="0">
              <a:buNone/>
            </a:pPr>
            <a:endParaRPr lang="en-US" dirty="0">
              <a:latin typeface="Times New Roman" panose="02020603050405020304" pitchFamily="18" charset="0"/>
              <a:cs typeface="Times New Roman" panose="02020603050405020304" pitchFamily="18" charset="0"/>
            </a:endParaRPr>
          </a:p>
          <a:p>
            <a:pPr marL="114300" lvl="0" indent="0">
              <a:buNone/>
            </a:pPr>
            <a:r>
              <a:rPr lang="en-US" sz="13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16/4/2026                                                                      </a:t>
            </a:r>
            <a:r>
              <a:rPr lang="en-US" sz="1300" dirty="0">
                <a:solidFill>
                  <a:schemeClr val="bg1">
                    <a:lumMod val="50000"/>
                  </a:schemeClr>
                </a:solidFill>
              </a:rPr>
              <a:t>ENG22CT0052, Dept. of Computer Science &amp; Technology, </a:t>
            </a:r>
            <a:r>
              <a:rPr lang="en-US" sz="1300" dirty="0" err="1">
                <a:solidFill>
                  <a:schemeClr val="bg1">
                    <a:lumMod val="50000"/>
                  </a:schemeClr>
                </a:solidFill>
              </a:rPr>
              <a:t>SoE</a:t>
            </a:r>
            <a:r>
              <a:rPr lang="en-US" sz="1300" dirty="0">
                <a:solidFill>
                  <a:schemeClr val="bg1">
                    <a:lumMod val="50000"/>
                  </a:schemeClr>
                </a:solidFill>
              </a:rPr>
              <a:t>, DSU</a:t>
            </a:r>
          </a:p>
          <a:p>
            <a:pPr marL="114300" indent="0">
              <a:buNone/>
            </a:pPr>
            <a:endParaRPr lang="en-US" sz="1300" dirty="0">
              <a:latin typeface="Calibri" panose="020F0502020204030204" pitchFamily="34" charset="0"/>
              <a:ea typeface="Calibri" panose="020F0502020204030204" pitchFamily="34" charset="0"/>
              <a:cs typeface="Calibri" panose="020F0502020204030204" pitchFamily="34" charset="0"/>
            </a:endParaRPr>
          </a:p>
          <a:p>
            <a:pPr marL="114300" indent="0">
              <a:buNone/>
            </a:pPr>
            <a:endParaRPr lang="en-US" dirty="0"/>
          </a:p>
          <a:p>
            <a:pPr marL="114300" indent="0">
              <a:buNone/>
            </a:pP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a:t>
            </a:fld>
            <a:endParaRPr lang="en-US" dirty="0"/>
          </a:p>
        </p:txBody>
      </p:sp>
      <p:pic>
        <p:nvPicPr>
          <p:cNvPr id="5" name="Google Shape;140;p5"/>
          <p:cNvPicPr preferRelativeResize="0"/>
          <p:nvPr/>
        </p:nvPicPr>
        <p:blipFill rotWithShape="1">
          <a:blip r:embed="rId2">
            <a:alphaModFix/>
          </a:blip>
          <a:srcRect/>
          <a:stretch/>
        </p:blipFill>
        <p:spPr>
          <a:xfrm>
            <a:off x="0" y="68321"/>
            <a:ext cx="2757608" cy="873605"/>
          </a:xfrm>
          <a:prstGeom prst="rect">
            <a:avLst/>
          </a:prstGeom>
          <a:noFill/>
          <a:ln>
            <a:noFill/>
          </a:ln>
        </p:spPr>
      </p:pic>
      <p:pic>
        <p:nvPicPr>
          <p:cNvPr id="6" name="Google Shape;139;p5"/>
          <p:cNvPicPr preferRelativeResize="0"/>
          <p:nvPr/>
        </p:nvPicPr>
        <p:blipFill rotWithShape="1">
          <a:blip r:embed="rId3">
            <a:alphaModFix/>
          </a:blip>
          <a:srcRect/>
          <a:stretch/>
        </p:blipFill>
        <p:spPr>
          <a:xfrm>
            <a:off x="9612157" y="59048"/>
            <a:ext cx="2389240" cy="791852"/>
          </a:xfrm>
          <a:prstGeom prst="rect">
            <a:avLst/>
          </a:prstGeom>
          <a:noFill/>
          <a:ln>
            <a:noFill/>
          </a:ln>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5750" y="0"/>
            <a:ext cx="2120900" cy="941926"/>
          </a:xfrm>
          <a:prstGeom prst="rect">
            <a:avLst/>
          </a:prstGeom>
        </p:spPr>
      </p:pic>
    </p:spTree>
    <p:extLst>
      <p:ext uri="{BB962C8B-B14F-4D97-AF65-F5344CB8AC3E}">
        <p14:creationId xmlns:p14="http://schemas.microsoft.com/office/powerpoint/2010/main" val="4113994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A81C66C-6D98-914A-C311-E269A613596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9</a:t>
            </a:fld>
            <a:endParaRPr lang="en-US"/>
          </a:p>
        </p:txBody>
      </p:sp>
      <p:pic>
        <p:nvPicPr>
          <p:cNvPr id="4" name="Picture 3">
            <a:extLst>
              <a:ext uri="{FF2B5EF4-FFF2-40B4-BE49-F238E27FC236}">
                <a16:creationId xmlns:a16="http://schemas.microsoft.com/office/drawing/2014/main" id="{504CA4B6-A186-9C08-5BCD-CA1E93AEB5B0}"/>
              </a:ext>
            </a:extLst>
          </p:cNvPr>
          <p:cNvPicPr>
            <a:picLocks noChangeAspect="1"/>
          </p:cNvPicPr>
          <p:nvPr/>
        </p:nvPicPr>
        <p:blipFill>
          <a:blip r:embed="rId2"/>
          <a:stretch>
            <a:fillRect/>
          </a:stretch>
        </p:blipFill>
        <p:spPr>
          <a:xfrm>
            <a:off x="5078729" y="136525"/>
            <a:ext cx="6782388" cy="5278556"/>
          </a:xfrm>
          <a:prstGeom prst="rect">
            <a:avLst/>
          </a:prstGeom>
        </p:spPr>
      </p:pic>
      <p:pic>
        <p:nvPicPr>
          <p:cNvPr id="6" name="Picture 5">
            <a:extLst>
              <a:ext uri="{FF2B5EF4-FFF2-40B4-BE49-F238E27FC236}">
                <a16:creationId xmlns:a16="http://schemas.microsoft.com/office/drawing/2014/main" id="{EB0E57D4-3C60-80A1-FB14-3AF8BC46CF88}"/>
              </a:ext>
            </a:extLst>
          </p:cNvPr>
          <p:cNvPicPr>
            <a:picLocks noChangeAspect="1"/>
          </p:cNvPicPr>
          <p:nvPr/>
        </p:nvPicPr>
        <p:blipFill>
          <a:blip r:embed="rId3"/>
          <a:stretch>
            <a:fillRect/>
          </a:stretch>
        </p:blipFill>
        <p:spPr>
          <a:xfrm>
            <a:off x="330883" y="2476417"/>
            <a:ext cx="4435224" cy="1905165"/>
          </a:xfrm>
          <a:prstGeom prst="rect">
            <a:avLst/>
          </a:prstGeom>
        </p:spPr>
      </p:pic>
      <p:sp>
        <p:nvSpPr>
          <p:cNvPr id="5" name="TextBox 4">
            <a:extLst>
              <a:ext uri="{FF2B5EF4-FFF2-40B4-BE49-F238E27FC236}">
                <a16:creationId xmlns:a16="http://schemas.microsoft.com/office/drawing/2014/main" id="{52624F9E-3E6D-0333-B3EC-73C09AD4AF8A}"/>
              </a:ext>
            </a:extLst>
          </p:cNvPr>
          <p:cNvSpPr txBox="1"/>
          <p:nvPr/>
        </p:nvSpPr>
        <p:spPr>
          <a:xfrm>
            <a:off x="0" y="4552147"/>
            <a:ext cx="4766107" cy="1154162"/>
          </a:xfrm>
          <a:prstGeom prst="rect">
            <a:avLst/>
          </a:prstGeom>
          <a:noFill/>
        </p:spPr>
        <p:txBody>
          <a:bodyPr wrap="square">
            <a:spAutoFit/>
          </a:bodyPr>
          <a:lstStyle/>
          <a:p>
            <a:pPr indent="457200" algn="ctr">
              <a:buNone/>
            </a:pPr>
            <a:r>
              <a:rPr lang="en-IN" sz="1300" b="1" dirty="0">
                <a:effectLst/>
                <a:latin typeface="Times New Roman" panose="02020603050405020304" pitchFamily="18" charset="0"/>
                <a:ea typeface="Times New Roman" panose="02020603050405020304" pitchFamily="18" charset="0"/>
              </a:rPr>
              <a:t>Fig 2:</a:t>
            </a:r>
            <a:r>
              <a:rPr lang="en-IN" sz="1300" dirty="0">
                <a:effectLst/>
                <a:latin typeface="Times New Roman" panose="02020603050405020304" pitchFamily="18" charset="0"/>
                <a:ea typeface="Times New Roman" panose="02020603050405020304" pitchFamily="18" charset="0"/>
              </a:rPr>
              <a:t> </a:t>
            </a:r>
            <a:r>
              <a:rPr lang="en-IN" sz="1300" b="1" dirty="0">
                <a:effectLst/>
                <a:latin typeface="Times New Roman" panose="02020603050405020304" pitchFamily="18" charset="0"/>
                <a:ea typeface="Times New Roman" panose="02020603050405020304" pitchFamily="18" charset="0"/>
              </a:rPr>
              <a:t>Model Evaluation Metrics (MSE and R² Score)</a:t>
            </a:r>
            <a:endParaRPr lang="en-IN" sz="1300" dirty="0">
              <a:effectLst/>
              <a:latin typeface="Times New Roman" panose="02020603050405020304" pitchFamily="18" charset="0"/>
              <a:ea typeface="Times New Roman" panose="02020603050405020304" pitchFamily="18" charset="0"/>
            </a:endParaRPr>
          </a:p>
          <a:p>
            <a:pPr algn="just">
              <a:buNone/>
            </a:pPr>
            <a:r>
              <a:rPr lang="en-IN" dirty="0">
                <a:effectLst/>
                <a:latin typeface="Times New Roman" panose="02020603050405020304" pitchFamily="18" charset="0"/>
                <a:ea typeface="Times New Roman" panose="02020603050405020304" pitchFamily="18" charset="0"/>
              </a:rPr>
              <a:t>This output shows the performance of the regression model using Mean Squared Error (MSE) and R² score. The MSE indicates the prediction error, while the R² score represents how well the model explains the data.</a:t>
            </a:r>
          </a:p>
        </p:txBody>
      </p:sp>
      <p:sp>
        <p:nvSpPr>
          <p:cNvPr id="8" name="TextBox 7">
            <a:extLst>
              <a:ext uri="{FF2B5EF4-FFF2-40B4-BE49-F238E27FC236}">
                <a16:creationId xmlns:a16="http://schemas.microsoft.com/office/drawing/2014/main" id="{19ADEA30-267C-096F-DF0F-2C3DDED4AAE8}"/>
              </a:ext>
            </a:extLst>
          </p:cNvPr>
          <p:cNvSpPr txBox="1"/>
          <p:nvPr/>
        </p:nvSpPr>
        <p:spPr>
          <a:xfrm>
            <a:off x="5749685" y="5415081"/>
            <a:ext cx="6111432" cy="1169551"/>
          </a:xfrm>
          <a:prstGeom prst="rect">
            <a:avLst/>
          </a:prstGeom>
          <a:noFill/>
        </p:spPr>
        <p:txBody>
          <a:bodyPr wrap="square">
            <a:spAutoFit/>
          </a:bodyPr>
          <a:lstStyle/>
          <a:p>
            <a:pPr indent="457200" algn="ctr">
              <a:buNone/>
            </a:pPr>
            <a:endParaRPr lang="en-IN" sz="1400" b="1" dirty="0">
              <a:effectLst/>
              <a:latin typeface="Times New Roman" panose="02020603050405020304" pitchFamily="18" charset="0"/>
              <a:ea typeface="Times New Roman" panose="02020603050405020304" pitchFamily="18" charset="0"/>
            </a:endParaRPr>
          </a:p>
          <a:p>
            <a:pPr indent="457200" algn="ctr">
              <a:buNone/>
            </a:pPr>
            <a:r>
              <a:rPr lang="en-IN" sz="1400" b="1" dirty="0">
                <a:effectLst/>
                <a:latin typeface="Times New Roman" panose="02020603050405020304" pitchFamily="18" charset="0"/>
                <a:ea typeface="Times New Roman" panose="02020603050405020304" pitchFamily="18" charset="0"/>
              </a:rPr>
              <a:t>Fig 3:</a:t>
            </a:r>
            <a:r>
              <a:rPr lang="en-IN" sz="1400" dirty="0">
                <a:effectLst/>
                <a:latin typeface="Times New Roman" panose="02020603050405020304" pitchFamily="18" charset="0"/>
                <a:ea typeface="Times New Roman" panose="02020603050405020304" pitchFamily="18" charset="0"/>
              </a:rPr>
              <a:t> </a:t>
            </a:r>
            <a:r>
              <a:rPr lang="en-IN" sz="1400" b="1" dirty="0">
                <a:effectLst/>
                <a:latin typeface="Times New Roman" panose="02020603050405020304" pitchFamily="18" charset="0"/>
                <a:ea typeface="Times New Roman" panose="02020603050405020304" pitchFamily="18" charset="0"/>
              </a:rPr>
              <a:t>Actual vs Predicted House Prices</a:t>
            </a:r>
            <a:endParaRPr lang="en-IN" sz="1200" dirty="0">
              <a:effectLst/>
              <a:latin typeface="Times New Roman" panose="02020603050405020304" pitchFamily="18" charset="0"/>
              <a:ea typeface="Times New Roman" panose="02020603050405020304" pitchFamily="18" charset="0"/>
            </a:endParaRPr>
          </a:p>
          <a:p>
            <a:pPr algn="just">
              <a:buNone/>
            </a:pPr>
            <a:r>
              <a:rPr lang="en-IN" sz="1400" dirty="0">
                <a:effectLst/>
                <a:latin typeface="Times New Roman" panose="02020603050405020304" pitchFamily="18" charset="0"/>
                <a:ea typeface="Times New Roman" panose="02020603050405020304" pitchFamily="18" charset="0"/>
              </a:rPr>
              <a:t>This scatter plot compares actual house prices with predicted values from the model. The closer the points are to a straight line, the better the model’s predictions, indicating good accuracy.</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864034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1167889"/>
            <a:ext cx="10515600" cy="748762"/>
          </a:xfrm>
        </p:spPr>
        <p:txBody>
          <a:bodyPr/>
          <a:lstStyle/>
          <a:p>
            <a:pPr algn="ctr"/>
            <a:r>
              <a:rPr lang="en-US" b="1" dirty="0">
                <a:latin typeface="Times New Roman" panose="02020603050405020304" pitchFamily="18" charset="0"/>
                <a:cs typeface="Times New Roman" panose="02020603050405020304" pitchFamily="18" charset="0"/>
              </a:rPr>
              <a:t>Task 3: Dashboard Development</a:t>
            </a:r>
          </a:p>
        </p:txBody>
      </p:sp>
      <p:sp>
        <p:nvSpPr>
          <p:cNvPr id="3" name="Text Placeholder 2"/>
          <p:cNvSpPr>
            <a:spLocks noGrp="1"/>
          </p:cNvSpPr>
          <p:nvPr>
            <p:ph type="body" idx="1"/>
          </p:nvPr>
        </p:nvSpPr>
        <p:spPr>
          <a:xfrm>
            <a:off x="838200" y="1893829"/>
            <a:ext cx="10515600" cy="4895850"/>
          </a:xfrm>
        </p:spPr>
        <p:txBody>
          <a:bodyPr>
            <a:normAutofit fontScale="92500" lnSpcReduction="10000"/>
          </a:bodyPr>
          <a:lstStyle/>
          <a:p>
            <a:pPr marL="114300" indent="0">
              <a:buNone/>
            </a:pPr>
            <a:r>
              <a:rPr lang="en-IN" b="1" dirty="0">
                <a:latin typeface="Times New Roman" panose="02020603050405020304" pitchFamily="18" charset="0"/>
                <a:cs typeface="Times New Roman" panose="02020603050405020304" pitchFamily="18" charset="0"/>
              </a:rPr>
              <a:t>Description:</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Developed interactive sales dashboard</a:t>
            </a:r>
          </a:p>
          <a:p>
            <a:pPr marL="114300" indent="0">
              <a:buNone/>
            </a:pPr>
            <a:r>
              <a:rPr lang="en-IN" b="1" dirty="0">
                <a:latin typeface="Times New Roman" panose="02020603050405020304" pitchFamily="18" charset="0"/>
                <a:cs typeface="Times New Roman" panose="02020603050405020304" pitchFamily="18" charset="0"/>
              </a:rPr>
              <a:t>Steps Performed:</a:t>
            </a:r>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Loaded dataset </a:t>
            </a:r>
          </a:p>
          <a:p>
            <a:r>
              <a:rPr lang="en-IN" dirty="0">
                <a:latin typeface="Times New Roman" panose="02020603050405020304" pitchFamily="18" charset="0"/>
                <a:cs typeface="Times New Roman" panose="02020603050405020304" pitchFamily="18" charset="0"/>
              </a:rPr>
              <a:t>Created bar, line, and pie charts </a:t>
            </a:r>
          </a:p>
          <a:p>
            <a:r>
              <a:rPr lang="en-IN" dirty="0">
                <a:latin typeface="Times New Roman" panose="02020603050405020304" pitchFamily="18" charset="0"/>
                <a:cs typeface="Times New Roman" panose="02020603050405020304" pitchFamily="18" charset="0"/>
              </a:rPr>
              <a:t>Used Dash &amp; Plotly </a:t>
            </a:r>
          </a:p>
          <a:p>
            <a:r>
              <a:rPr lang="en-IN" dirty="0">
                <a:latin typeface="Times New Roman" panose="02020603050405020304" pitchFamily="18" charset="0"/>
                <a:cs typeface="Times New Roman" panose="02020603050405020304" pitchFamily="18" charset="0"/>
              </a:rPr>
              <a:t>Added dropdown filters </a:t>
            </a:r>
          </a:p>
          <a:p>
            <a:pPr marL="114300" indent="0">
              <a:buNone/>
            </a:pPr>
            <a:r>
              <a:rPr lang="en-IN" b="1" dirty="0">
                <a:latin typeface="Times New Roman" panose="02020603050405020304" pitchFamily="18" charset="0"/>
                <a:cs typeface="Times New Roman" panose="02020603050405020304" pitchFamily="18" charset="0"/>
              </a:rPr>
              <a:t>Result: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Interactive dashboard showing insights</a:t>
            </a:r>
          </a:p>
          <a:p>
            <a:pPr marL="114300" indent="0">
              <a:buNone/>
            </a:pPr>
            <a:r>
              <a:rPr lang="en-IN" b="1" dirty="0">
                <a:latin typeface="Times New Roman" panose="02020603050405020304" pitchFamily="18" charset="0"/>
                <a:cs typeface="Times New Roman" panose="02020603050405020304" pitchFamily="18" charset="0"/>
              </a:rPr>
              <a:t>Outcome: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Improved data visualization skills</a:t>
            </a:r>
          </a:p>
          <a:p>
            <a:pPr marL="114300" lvl="0" indent="0">
              <a:buNone/>
            </a:pPr>
            <a:r>
              <a:rPr lang="en-US" sz="13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16/4/2026                                                                           </a:t>
            </a:r>
            <a:r>
              <a:rPr lang="en-US" sz="1300" dirty="0">
                <a:solidFill>
                  <a:schemeClr val="bg1">
                    <a:lumMod val="50000"/>
                  </a:schemeClr>
                </a:solidFill>
              </a:rPr>
              <a:t>ENG22CT0052, Dept. of Computer Science &amp; Technology, </a:t>
            </a:r>
            <a:r>
              <a:rPr lang="en-US" sz="1300" dirty="0" err="1">
                <a:solidFill>
                  <a:schemeClr val="bg1">
                    <a:lumMod val="50000"/>
                  </a:schemeClr>
                </a:solidFill>
              </a:rPr>
              <a:t>SoE</a:t>
            </a:r>
            <a:r>
              <a:rPr lang="en-US" sz="1300" dirty="0">
                <a:solidFill>
                  <a:schemeClr val="bg1">
                    <a:lumMod val="50000"/>
                  </a:schemeClr>
                </a:solidFill>
              </a:rPr>
              <a:t>, DSU</a:t>
            </a:r>
          </a:p>
          <a:p>
            <a:pPr marL="114300" indent="0">
              <a:buNone/>
            </a:pPr>
            <a:endParaRPr lang="en-US" sz="1300" dirty="0">
              <a:latin typeface="Calibri" panose="020F0502020204030204" pitchFamily="34" charset="0"/>
              <a:ea typeface="Calibri" panose="020F0502020204030204" pitchFamily="34" charset="0"/>
              <a:cs typeface="Calibri" panose="020F0502020204030204" pitchFamily="34"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10</a:t>
            </a:fld>
            <a:endParaRPr lang="en-US" dirty="0"/>
          </a:p>
        </p:txBody>
      </p:sp>
      <p:pic>
        <p:nvPicPr>
          <p:cNvPr id="5" name="Google Shape;140;p5"/>
          <p:cNvPicPr preferRelativeResize="0"/>
          <p:nvPr/>
        </p:nvPicPr>
        <p:blipFill rotWithShape="1">
          <a:blip r:embed="rId2">
            <a:alphaModFix/>
          </a:blip>
          <a:srcRect/>
          <a:stretch/>
        </p:blipFill>
        <p:spPr>
          <a:xfrm>
            <a:off x="0" y="68321"/>
            <a:ext cx="2757608" cy="873605"/>
          </a:xfrm>
          <a:prstGeom prst="rect">
            <a:avLst/>
          </a:prstGeom>
          <a:noFill/>
          <a:ln>
            <a:noFill/>
          </a:ln>
        </p:spPr>
      </p:pic>
      <p:pic>
        <p:nvPicPr>
          <p:cNvPr id="6" name="Google Shape;139;p5"/>
          <p:cNvPicPr preferRelativeResize="0"/>
          <p:nvPr/>
        </p:nvPicPr>
        <p:blipFill rotWithShape="1">
          <a:blip r:embed="rId3">
            <a:alphaModFix/>
          </a:blip>
          <a:srcRect/>
          <a:stretch/>
        </p:blipFill>
        <p:spPr>
          <a:xfrm>
            <a:off x="9612157" y="59048"/>
            <a:ext cx="2389240" cy="791852"/>
          </a:xfrm>
          <a:prstGeom prst="rect">
            <a:avLst/>
          </a:prstGeom>
          <a:noFill/>
          <a:ln>
            <a:noFill/>
          </a:ln>
        </p:spPr>
      </p:pic>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3050" y="0"/>
            <a:ext cx="2120900" cy="941926"/>
          </a:xfrm>
          <a:prstGeom prst="rect">
            <a:avLst/>
          </a:prstGeom>
        </p:spPr>
      </p:pic>
    </p:spTree>
    <p:extLst>
      <p:ext uri="{BB962C8B-B14F-4D97-AF65-F5344CB8AC3E}">
        <p14:creationId xmlns:p14="http://schemas.microsoft.com/office/powerpoint/2010/main" val="1150068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2467287-D9C3-14AE-E761-0BE991A2948E}"/>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11</a:t>
            </a:fld>
            <a:endParaRPr lang="en-US"/>
          </a:p>
        </p:txBody>
      </p:sp>
      <p:pic>
        <p:nvPicPr>
          <p:cNvPr id="4" name="Picture 3">
            <a:extLst>
              <a:ext uri="{FF2B5EF4-FFF2-40B4-BE49-F238E27FC236}">
                <a16:creationId xmlns:a16="http://schemas.microsoft.com/office/drawing/2014/main" id="{1A3C03C6-7E76-0698-5F61-6B803FEBF738}"/>
              </a:ext>
            </a:extLst>
          </p:cNvPr>
          <p:cNvPicPr>
            <a:picLocks noChangeAspect="1"/>
          </p:cNvPicPr>
          <p:nvPr/>
        </p:nvPicPr>
        <p:blipFill>
          <a:blip r:embed="rId3"/>
          <a:stretch>
            <a:fillRect/>
          </a:stretch>
        </p:blipFill>
        <p:spPr>
          <a:xfrm>
            <a:off x="185195" y="136525"/>
            <a:ext cx="11864052" cy="5949131"/>
          </a:xfrm>
          <a:prstGeom prst="rect">
            <a:avLst/>
          </a:prstGeom>
        </p:spPr>
      </p:pic>
      <p:sp>
        <p:nvSpPr>
          <p:cNvPr id="5" name="TextBox 4">
            <a:extLst>
              <a:ext uri="{FF2B5EF4-FFF2-40B4-BE49-F238E27FC236}">
                <a16:creationId xmlns:a16="http://schemas.microsoft.com/office/drawing/2014/main" id="{C40B92C5-0C34-DD20-F0C1-6720C37B597A}"/>
              </a:ext>
            </a:extLst>
          </p:cNvPr>
          <p:cNvSpPr txBox="1"/>
          <p:nvPr/>
        </p:nvSpPr>
        <p:spPr>
          <a:xfrm>
            <a:off x="1264535" y="6085656"/>
            <a:ext cx="9303152" cy="738664"/>
          </a:xfrm>
          <a:prstGeom prst="rect">
            <a:avLst/>
          </a:prstGeom>
          <a:noFill/>
        </p:spPr>
        <p:txBody>
          <a:bodyPr wrap="square">
            <a:spAutoFit/>
          </a:bodyPr>
          <a:lstStyle/>
          <a:p>
            <a:pPr indent="457200" algn="ctr">
              <a:buNone/>
            </a:pPr>
            <a:r>
              <a:rPr lang="en-IN" sz="1400" b="1" dirty="0">
                <a:effectLst/>
                <a:latin typeface="Times New Roman" panose="02020603050405020304" pitchFamily="18" charset="0"/>
                <a:ea typeface="Times New Roman" panose="02020603050405020304" pitchFamily="18" charset="0"/>
              </a:rPr>
              <a:t>Fig 4:</a:t>
            </a:r>
            <a:r>
              <a:rPr lang="en-IN" sz="1400" dirty="0">
                <a:effectLst/>
                <a:latin typeface="Times New Roman" panose="02020603050405020304" pitchFamily="18" charset="0"/>
                <a:ea typeface="Times New Roman" panose="02020603050405020304" pitchFamily="18" charset="0"/>
              </a:rPr>
              <a:t> </a:t>
            </a:r>
            <a:r>
              <a:rPr lang="en-IN" sz="1400" b="1" dirty="0">
                <a:effectLst/>
                <a:latin typeface="Times New Roman" panose="02020603050405020304" pitchFamily="18" charset="0"/>
                <a:ea typeface="Times New Roman" panose="02020603050405020304" pitchFamily="18" charset="0"/>
              </a:rPr>
              <a:t>Interactive Sales Dashboard</a:t>
            </a:r>
            <a:endParaRPr lang="en-IN" sz="1200" dirty="0">
              <a:effectLst/>
              <a:latin typeface="Times New Roman" panose="02020603050405020304" pitchFamily="18" charset="0"/>
              <a:ea typeface="Times New Roman" panose="02020603050405020304" pitchFamily="18" charset="0"/>
            </a:endParaRPr>
          </a:p>
          <a:p>
            <a:pPr algn="just">
              <a:buNone/>
            </a:pPr>
            <a:r>
              <a:rPr lang="en-IN" sz="1400" dirty="0">
                <a:effectLst/>
                <a:latin typeface="Times New Roman" panose="02020603050405020304" pitchFamily="18" charset="0"/>
                <a:ea typeface="Times New Roman" panose="02020603050405020304" pitchFamily="18" charset="0"/>
              </a:rPr>
              <a:t>This dashboard displays sales insights using interactive visualizations, including bar, line, and pie charts. It allows users to </a:t>
            </a:r>
            <a:r>
              <a:rPr lang="en-IN" sz="1400" dirty="0" err="1">
                <a:effectLst/>
                <a:latin typeface="Times New Roman" panose="02020603050405020304" pitchFamily="18" charset="0"/>
                <a:ea typeface="Times New Roman" panose="02020603050405020304" pitchFamily="18" charset="0"/>
              </a:rPr>
              <a:t>analyze</a:t>
            </a:r>
            <a:r>
              <a:rPr lang="en-IN" sz="1400" dirty="0">
                <a:effectLst/>
                <a:latin typeface="Times New Roman" panose="02020603050405020304" pitchFamily="18" charset="0"/>
                <a:ea typeface="Times New Roman" panose="02020603050405020304" pitchFamily="18" charset="0"/>
              </a:rPr>
              <a:t> sales by product line, track sales over time, and view distribution across categories.</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95639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39800" y="1247250"/>
            <a:ext cx="10515600" cy="660401"/>
          </a:xfrm>
        </p:spPr>
        <p:txBody>
          <a:bodyPr>
            <a:noAutofit/>
          </a:bodyPr>
          <a:lstStyle/>
          <a:p>
            <a:pPr algn="ctr"/>
            <a:r>
              <a:rPr lang="en-US" b="1" dirty="0">
                <a:latin typeface="Times New Roman" panose="02020603050405020304" pitchFamily="18" charset="0"/>
                <a:cs typeface="Times New Roman" panose="02020603050405020304" pitchFamily="18" charset="0"/>
              </a:rPr>
              <a:t>Task 4: Sentiment Analysis</a:t>
            </a:r>
          </a:p>
        </p:txBody>
      </p:sp>
      <p:sp>
        <p:nvSpPr>
          <p:cNvPr id="3" name="Text Placeholder 2"/>
          <p:cNvSpPr>
            <a:spLocks noGrp="1"/>
          </p:cNvSpPr>
          <p:nvPr>
            <p:ph type="body" idx="1"/>
          </p:nvPr>
        </p:nvSpPr>
        <p:spPr>
          <a:xfrm>
            <a:off x="838200" y="1915574"/>
            <a:ext cx="10515600" cy="4942426"/>
          </a:xfrm>
        </p:spPr>
        <p:txBody>
          <a:bodyPr>
            <a:normAutofit fontScale="92500" lnSpcReduction="20000"/>
          </a:bodyPr>
          <a:lstStyle/>
          <a:p>
            <a:pPr marL="114300" indent="0">
              <a:buNone/>
            </a:pPr>
            <a:r>
              <a:rPr lang="en-US" b="1" dirty="0">
                <a:latin typeface="Times New Roman" panose="02020603050405020304" pitchFamily="18" charset="0"/>
                <a:cs typeface="Times New Roman" panose="02020603050405020304" pitchFamily="18" charset="0"/>
              </a:rPr>
              <a:t>Description: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Classified reviews into positive &amp; negative</a:t>
            </a:r>
          </a:p>
          <a:p>
            <a:pPr marL="114300" indent="0">
              <a:buNone/>
            </a:pPr>
            <a:r>
              <a:rPr lang="en-US" b="1" dirty="0">
                <a:latin typeface="Times New Roman" panose="02020603050405020304" pitchFamily="18" charset="0"/>
                <a:cs typeface="Times New Roman" panose="02020603050405020304" pitchFamily="18" charset="0"/>
              </a:rPr>
              <a:t>Steps Performed: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Cleaned text data </a:t>
            </a:r>
          </a:p>
          <a:p>
            <a:r>
              <a:rPr lang="en-US" dirty="0">
                <a:latin typeface="Times New Roman" panose="02020603050405020304" pitchFamily="18" charset="0"/>
                <a:cs typeface="Times New Roman" panose="02020603050405020304" pitchFamily="18" charset="0"/>
              </a:rPr>
              <a:t>Applied TF-IDF Vectorization </a:t>
            </a:r>
          </a:p>
          <a:p>
            <a:r>
              <a:rPr lang="en-US" dirty="0">
                <a:latin typeface="Times New Roman" panose="02020603050405020304" pitchFamily="18" charset="0"/>
                <a:cs typeface="Times New Roman" panose="02020603050405020304" pitchFamily="18" charset="0"/>
              </a:rPr>
              <a:t>Used Logistic Regression </a:t>
            </a:r>
          </a:p>
          <a:p>
            <a:r>
              <a:rPr lang="en-US" dirty="0">
                <a:latin typeface="Times New Roman" panose="02020603050405020304" pitchFamily="18" charset="0"/>
                <a:cs typeface="Times New Roman" panose="02020603050405020304" pitchFamily="18" charset="0"/>
              </a:rPr>
              <a:t>Evaluated accuracy (~91%) </a:t>
            </a:r>
          </a:p>
          <a:p>
            <a:pPr marL="114300" indent="0">
              <a:buNone/>
            </a:pPr>
            <a:r>
              <a:rPr lang="en-US" b="1" dirty="0">
                <a:latin typeface="Times New Roman" panose="02020603050405020304" pitchFamily="18" charset="0"/>
                <a:cs typeface="Times New Roman" panose="02020603050405020304" pitchFamily="18" charset="0"/>
              </a:rPr>
              <a:t>Result: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Model successfully classified sentiments</a:t>
            </a:r>
          </a:p>
          <a:p>
            <a:pPr marL="114300" indent="0">
              <a:buNone/>
            </a:pPr>
            <a:r>
              <a:rPr lang="en-US" b="1" dirty="0">
                <a:latin typeface="Times New Roman" panose="02020603050405020304" pitchFamily="18" charset="0"/>
                <a:cs typeface="Times New Roman" panose="02020603050405020304" pitchFamily="18" charset="0"/>
              </a:rPr>
              <a:t>Outcome:</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Learned NLP basics and text classification</a:t>
            </a:r>
          </a:p>
          <a:p>
            <a:pPr marL="114300" indent="0">
              <a:buNone/>
            </a:pPr>
            <a:endParaRPr lang="en-US" dirty="0">
              <a:latin typeface="Times New Roman" panose="02020603050405020304" pitchFamily="18" charset="0"/>
              <a:cs typeface="Times New Roman" panose="02020603050405020304" pitchFamily="18" charset="0"/>
            </a:endParaRPr>
          </a:p>
          <a:p>
            <a:pPr marL="114300" lvl="0" indent="0">
              <a:buNone/>
            </a:pPr>
            <a:r>
              <a:rPr lang="en-US" sz="13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16/4/2026                                                                       </a:t>
            </a:r>
            <a:r>
              <a:rPr lang="en-US" sz="1300" dirty="0">
                <a:solidFill>
                  <a:schemeClr val="bg1">
                    <a:lumMod val="50000"/>
                  </a:schemeClr>
                </a:solidFill>
              </a:rPr>
              <a:t>ENG22CT0052, Dept. of Computer Science &amp; Technology, </a:t>
            </a:r>
            <a:r>
              <a:rPr lang="en-US" sz="1300" dirty="0" err="1">
                <a:solidFill>
                  <a:schemeClr val="bg1">
                    <a:lumMod val="50000"/>
                  </a:schemeClr>
                </a:solidFill>
              </a:rPr>
              <a:t>SoE</a:t>
            </a:r>
            <a:r>
              <a:rPr lang="en-US" sz="1300" dirty="0">
                <a:solidFill>
                  <a:schemeClr val="bg1">
                    <a:lumMod val="50000"/>
                  </a:schemeClr>
                </a:solidFill>
              </a:rPr>
              <a:t>, DSU</a:t>
            </a:r>
          </a:p>
          <a:p>
            <a:pPr marL="114300" indent="0">
              <a:buNone/>
            </a:pPr>
            <a:endParaRPr lang="en-US" sz="1400"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12</a:t>
            </a:fld>
            <a:endParaRPr lang="en-US" dirty="0"/>
          </a:p>
        </p:txBody>
      </p:sp>
      <p:pic>
        <p:nvPicPr>
          <p:cNvPr id="5" name="Google Shape;139;p5"/>
          <p:cNvPicPr preferRelativeResize="0"/>
          <p:nvPr/>
        </p:nvPicPr>
        <p:blipFill rotWithShape="1">
          <a:blip r:embed="rId3">
            <a:alphaModFix/>
          </a:blip>
          <a:srcRect/>
          <a:stretch/>
        </p:blipFill>
        <p:spPr>
          <a:xfrm>
            <a:off x="9612157" y="59048"/>
            <a:ext cx="2389240" cy="791852"/>
          </a:xfrm>
          <a:prstGeom prst="rect">
            <a:avLst/>
          </a:prstGeom>
          <a:noFill/>
          <a:ln>
            <a:noFill/>
          </a:ln>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5750" y="0"/>
            <a:ext cx="2120900" cy="941926"/>
          </a:xfrm>
          <a:prstGeom prst="rect">
            <a:avLst/>
          </a:prstGeom>
        </p:spPr>
      </p:pic>
      <p:pic>
        <p:nvPicPr>
          <p:cNvPr id="7" name="Google Shape;151;p6"/>
          <p:cNvPicPr preferRelativeResize="0"/>
          <p:nvPr/>
        </p:nvPicPr>
        <p:blipFill rotWithShape="1">
          <a:blip r:embed="rId5">
            <a:alphaModFix/>
          </a:blip>
          <a:srcRect/>
          <a:stretch/>
        </p:blipFill>
        <p:spPr>
          <a:xfrm>
            <a:off x="70433" y="36724"/>
            <a:ext cx="2757608" cy="873605"/>
          </a:xfrm>
          <a:prstGeom prst="rect">
            <a:avLst/>
          </a:prstGeom>
          <a:noFill/>
          <a:ln>
            <a:noFill/>
          </a:ln>
        </p:spPr>
      </p:pic>
    </p:spTree>
    <p:extLst>
      <p:ext uri="{BB962C8B-B14F-4D97-AF65-F5344CB8AC3E}">
        <p14:creationId xmlns:p14="http://schemas.microsoft.com/office/powerpoint/2010/main" val="16435238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CA5AA4-ACA0-B2BE-B513-1B885216A4B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13</a:t>
            </a:fld>
            <a:endParaRPr lang="en-US"/>
          </a:p>
        </p:txBody>
      </p:sp>
      <p:pic>
        <p:nvPicPr>
          <p:cNvPr id="4" name="Picture 3">
            <a:extLst>
              <a:ext uri="{FF2B5EF4-FFF2-40B4-BE49-F238E27FC236}">
                <a16:creationId xmlns:a16="http://schemas.microsoft.com/office/drawing/2014/main" id="{9A6934E5-7CA8-6235-9EF2-86300A90822E}"/>
              </a:ext>
            </a:extLst>
          </p:cNvPr>
          <p:cNvPicPr>
            <a:picLocks noChangeAspect="1"/>
          </p:cNvPicPr>
          <p:nvPr/>
        </p:nvPicPr>
        <p:blipFill>
          <a:blip r:embed="rId2"/>
          <a:stretch>
            <a:fillRect/>
          </a:stretch>
        </p:blipFill>
        <p:spPr>
          <a:xfrm>
            <a:off x="145722" y="1520618"/>
            <a:ext cx="5089671" cy="3490262"/>
          </a:xfrm>
          <a:prstGeom prst="rect">
            <a:avLst/>
          </a:prstGeom>
        </p:spPr>
      </p:pic>
      <p:sp>
        <p:nvSpPr>
          <p:cNvPr id="5" name="TextBox 4">
            <a:extLst>
              <a:ext uri="{FF2B5EF4-FFF2-40B4-BE49-F238E27FC236}">
                <a16:creationId xmlns:a16="http://schemas.microsoft.com/office/drawing/2014/main" id="{21E15B43-DCCA-7875-7300-1606C9F8701A}"/>
              </a:ext>
            </a:extLst>
          </p:cNvPr>
          <p:cNvSpPr txBox="1"/>
          <p:nvPr/>
        </p:nvSpPr>
        <p:spPr>
          <a:xfrm>
            <a:off x="0" y="5162597"/>
            <a:ext cx="5235394" cy="1169551"/>
          </a:xfrm>
          <a:prstGeom prst="rect">
            <a:avLst/>
          </a:prstGeom>
          <a:noFill/>
        </p:spPr>
        <p:txBody>
          <a:bodyPr wrap="square">
            <a:spAutoFit/>
          </a:bodyPr>
          <a:lstStyle/>
          <a:p>
            <a:pPr indent="457200" algn="ctr">
              <a:buNone/>
            </a:pPr>
            <a:r>
              <a:rPr lang="en-IN" sz="1400" b="1" dirty="0">
                <a:effectLst/>
                <a:latin typeface="Times New Roman" panose="02020603050405020304" pitchFamily="18" charset="0"/>
                <a:ea typeface="Times New Roman" panose="02020603050405020304" pitchFamily="18" charset="0"/>
              </a:rPr>
              <a:t>Fig 5:</a:t>
            </a:r>
            <a:r>
              <a:rPr lang="en-IN" sz="1400" dirty="0">
                <a:effectLst/>
                <a:latin typeface="Times New Roman" panose="02020603050405020304" pitchFamily="18" charset="0"/>
                <a:ea typeface="Times New Roman" panose="02020603050405020304" pitchFamily="18" charset="0"/>
              </a:rPr>
              <a:t> </a:t>
            </a:r>
            <a:r>
              <a:rPr lang="en-IN" sz="1400" b="1" dirty="0">
                <a:effectLst/>
                <a:latin typeface="Times New Roman" panose="02020603050405020304" pitchFamily="18" charset="0"/>
                <a:ea typeface="Times New Roman" panose="02020603050405020304" pitchFamily="18" charset="0"/>
              </a:rPr>
              <a:t>Logistic Regression Model Training and Accuracy</a:t>
            </a:r>
            <a:endParaRPr lang="en-IN" sz="1200" dirty="0">
              <a:effectLst/>
              <a:latin typeface="Times New Roman" panose="02020603050405020304" pitchFamily="18" charset="0"/>
              <a:ea typeface="Times New Roman" panose="02020603050405020304" pitchFamily="18" charset="0"/>
            </a:endParaRPr>
          </a:p>
          <a:p>
            <a:pPr algn="just">
              <a:buNone/>
            </a:pPr>
            <a:r>
              <a:rPr lang="en-IN" sz="1400" dirty="0">
                <a:effectLst/>
                <a:latin typeface="Times New Roman" panose="02020603050405020304" pitchFamily="18" charset="0"/>
                <a:ea typeface="Times New Roman" panose="02020603050405020304" pitchFamily="18" charset="0"/>
              </a:rPr>
              <a:t>This output shows the training and evaluation of the Logistic Regression model for sentiment analysis. The model is trained on text data and achieves an accuracy of approximately 91%, indicating good performance in classification.</a:t>
            </a:r>
            <a:endParaRPr lang="en-IN" sz="1200" dirty="0">
              <a:effectLst/>
              <a:latin typeface="Times New Roman" panose="02020603050405020304" pitchFamily="18" charset="0"/>
              <a:ea typeface="Times New Roman" panose="02020603050405020304" pitchFamily="18" charset="0"/>
            </a:endParaRPr>
          </a:p>
        </p:txBody>
      </p:sp>
      <p:pic>
        <p:nvPicPr>
          <p:cNvPr id="9" name="Picture 8">
            <a:extLst>
              <a:ext uri="{FF2B5EF4-FFF2-40B4-BE49-F238E27FC236}">
                <a16:creationId xmlns:a16="http://schemas.microsoft.com/office/drawing/2014/main" id="{BD06E16C-972B-E1E5-738A-ED54A486C224}"/>
              </a:ext>
            </a:extLst>
          </p:cNvPr>
          <p:cNvPicPr>
            <a:picLocks noChangeAspect="1"/>
          </p:cNvPicPr>
          <p:nvPr/>
        </p:nvPicPr>
        <p:blipFill>
          <a:blip r:embed="rId3"/>
          <a:stretch>
            <a:fillRect/>
          </a:stretch>
        </p:blipFill>
        <p:spPr>
          <a:xfrm>
            <a:off x="5384669" y="136525"/>
            <a:ext cx="6661608" cy="5610848"/>
          </a:xfrm>
          <a:prstGeom prst="rect">
            <a:avLst/>
          </a:prstGeom>
        </p:spPr>
      </p:pic>
      <p:sp>
        <p:nvSpPr>
          <p:cNvPr id="11" name="TextBox 10">
            <a:extLst>
              <a:ext uri="{FF2B5EF4-FFF2-40B4-BE49-F238E27FC236}">
                <a16:creationId xmlns:a16="http://schemas.microsoft.com/office/drawing/2014/main" id="{EC59159D-91DD-DFDA-BB60-07A29DDA0E3D}"/>
              </a:ext>
            </a:extLst>
          </p:cNvPr>
          <p:cNvSpPr txBox="1"/>
          <p:nvPr/>
        </p:nvSpPr>
        <p:spPr>
          <a:xfrm>
            <a:off x="5784448" y="5688449"/>
            <a:ext cx="6105644" cy="1169551"/>
          </a:xfrm>
          <a:prstGeom prst="rect">
            <a:avLst/>
          </a:prstGeom>
          <a:noFill/>
        </p:spPr>
        <p:txBody>
          <a:bodyPr wrap="square">
            <a:spAutoFit/>
          </a:bodyPr>
          <a:lstStyle/>
          <a:p>
            <a:pPr indent="457200" algn="ctr">
              <a:buNone/>
            </a:pPr>
            <a:r>
              <a:rPr lang="en-IN" sz="1400" b="1" dirty="0">
                <a:effectLst/>
                <a:latin typeface="Times New Roman" panose="02020603050405020304" pitchFamily="18" charset="0"/>
                <a:ea typeface="Times New Roman" panose="02020603050405020304" pitchFamily="18" charset="0"/>
              </a:rPr>
              <a:t>Fig 6:</a:t>
            </a:r>
            <a:r>
              <a:rPr lang="en-IN" sz="1400" dirty="0">
                <a:effectLst/>
                <a:latin typeface="Times New Roman" panose="02020603050405020304" pitchFamily="18" charset="0"/>
                <a:ea typeface="Times New Roman" panose="02020603050405020304" pitchFamily="18" charset="0"/>
              </a:rPr>
              <a:t> </a:t>
            </a:r>
            <a:r>
              <a:rPr lang="en-IN" sz="1400" b="1" dirty="0">
                <a:effectLst/>
                <a:latin typeface="Times New Roman" panose="02020603050405020304" pitchFamily="18" charset="0"/>
                <a:ea typeface="Times New Roman" panose="02020603050405020304" pitchFamily="18" charset="0"/>
              </a:rPr>
              <a:t>Sentiment Distribution Visualization</a:t>
            </a:r>
            <a:endParaRPr lang="en-IN" sz="1200" dirty="0">
              <a:effectLst/>
              <a:latin typeface="Times New Roman" panose="02020603050405020304" pitchFamily="18" charset="0"/>
              <a:ea typeface="Times New Roman" panose="02020603050405020304" pitchFamily="18" charset="0"/>
            </a:endParaRPr>
          </a:p>
          <a:p>
            <a:pPr algn="just">
              <a:buNone/>
            </a:pPr>
            <a:r>
              <a:rPr lang="en-IN" sz="1400" dirty="0">
                <a:effectLst/>
                <a:latin typeface="Times New Roman" panose="02020603050405020304" pitchFamily="18" charset="0"/>
                <a:ea typeface="Times New Roman" panose="02020603050405020304" pitchFamily="18" charset="0"/>
              </a:rPr>
              <a:t>This visualization represents the distribution of sentiment labels (positive and negative) in the dataset. The bar chart shows that both sentiment classes are nearly balanced, which helps in reducing bias during model training. A balanced dataset improves the performance and reliability of the sentiment analysis model.</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843671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92ED8FE-04FE-343C-A52C-98C79BAE530F}"/>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14</a:t>
            </a:fld>
            <a:endParaRPr lang="en-US"/>
          </a:p>
        </p:txBody>
      </p:sp>
      <p:pic>
        <p:nvPicPr>
          <p:cNvPr id="6" name="Picture 5">
            <a:extLst>
              <a:ext uri="{FF2B5EF4-FFF2-40B4-BE49-F238E27FC236}">
                <a16:creationId xmlns:a16="http://schemas.microsoft.com/office/drawing/2014/main" id="{FEDAF2B3-065A-D495-D604-5AE53E9CB56F}"/>
              </a:ext>
            </a:extLst>
          </p:cNvPr>
          <p:cNvPicPr>
            <a:picLocks noChangeAspect="1"/>
          </p:cNvPicPr>
          <p:nvPr/>
        </p:nvPicPr>
        <p:blipFill>
          <a:blip r:embed="rId3"/>
          <a:stretch>
            <a:fillRect/>
          </a:stretch>
        </p:blipFill>
        <p:spPr>
          <a:xfrm>
            <a:off x="154638" y="118661"/>
            <a:ext cx="6060475" cy="5283581"/>
          </a:xfrm>
          <a:prstGeom prst="rect">
            <a:avLst/>
          </a:prstGeom>
        </p:spPr>
      </p:pic>
      <p:pic>
        <p:nvPicPr>
          <p:cNvPr id="7" name="Picture 6">
            <a:extLst>
              <a:ext uri="{FF2B5EF4-FFF2-40B4-BE49-F238E27FC236}">
                <a16:creationId xmlns:a16="http://schemas.microsoft.com/office/drawing/2014/main" id="{79A1D221-F1BA-AC5A-2EAF-8532A30DCC96}"/>
              </a:ext>
            </a:extLst>
          </p:cNvPr>
          <p:cNvPicPr>
            <a:picLocks noChangeAspect="1"/>
          </p:cNvPicPr>
          <p:nvPr/>
        </p:nvPicPr>
        <p:blipFill>
          <a:blip r:embed="rId4"/>
          <a:stretch>
            <a:fillRect/>
          </a:stretch>
        </p:blipFill>
        <p:spPr>
          <a:xfrm>
            <a:off x="6365546" y="118661"/>
            <a:ext cx="5671815" cy="5283581"/>
          </a:xfrm>
          <a:prstGeom prst="rect">
            <a:avLst/>
          </a:prstGeom>
        </p:spPr>
      </p:pic>
      <p:sp>
        <p:nvSpPr>
          <p:cNvPr id="9" name="TextBox 8">
            <a:extLst>
              <a:ext uri="{FF2B5EF4-FFF2-40B4-BE49-F238E27FC236}">
                <a16:creationId xmlns:a16="http://schemas.microsoft.com/office/drawing/2014/main" id="{9AF93E13-399E-3850-812F-63AFC43B6269}"/>
              </a:ext>
            </a:extLst>
          </p:cNvPr>
          <p:cNvSpPr txBox="1"/>
          <p:nvPr/>
        </p:nvSpPr>
        <p:spPr>
          <a:xfrm>
            <a:off x="6470247" y="5572446"/>
            <a:ext cx="5413093" cy="954107"/>
          </a:xfrm>
          <a:prstGeom prst="rect">
            <a:avLst/>
          </a:prstGeom>
          <a:noFill/>
        </p:spPr>
        <p:txBody>
          <a:bodyPr wrap="square">
            <a:spAutoFit/>
          </a:bodyPr>
          <a:lstStyle/>
          <a:p>
            <a:pPr indent="457200" algn="ctr">
              <a:buNone/>
            </a:pPr>
            <a:r>
              <a:rPr lang="en-IN" sz="1400" b="1" dirty="0">
                <a:effectLst/>
                <a:latin typeface="Times New Roman" panose="02020603050405020304" pitchFamily="18" charset="0"/>
                <a:ea typeface="Times New Roman" panose="02020603050405020304" pitchFamily="18" charset="0"/>
              </a:rPr>
              <a:t>Fig 8:</a:t>
            </a:r>
            <a:r>
              <a:rPr lang="en-IN" sz="1400" dirty="0">
                <a:effectLst/>
                <a:latin typeface="Times New Roman" panose="02020603050405020304" pitchFamily="18" charset="0"/>
                <a:ea typeface="Times New Roman" panose="02020603050405020304" pitchFamily="18" charset="0"/>
              </a:rPr>
              <a:t> </a:t>
            </a:r>
            <a:r>
              <a:rPr lang="en-IN" sz="1400" b="1" dirty="0">
                <a:effectLst/>
                <a:latin typeface="Times New Roman" panose="02020603050405020304" pitchFamily="18" charset="0"/>
                <a:ea typeface="Times New Roman" panose="02020603050405020304" pitchFamily="18" charset="0"/>
              </a:rPr>
              <a:t>Sentiment Prediction on Sample Reviews</a:t>
            </a:r>
            <a:endParaRPr lang="en-IN" sz="1200" dirty="0">
              <a:effectLst/>
              <a:latin typeface="Times New Roman" panose="02020603050405020304" pitchFamily="18" charset="0"/>
              <a:ea typeface="Times New Roman" panose="02020603050405020304" pitchFamily="18" charset="0"/>
            </a:endParaRPr>
          </a:p>
          <a:p>
            <a:pPr algn="just">
              <a:buNone/>
            </a:pPr>
            <a:r>
              <a:rPr lang="en-IN" sz="1400" dirty="0">
                <a:effectLst/>
                <a:latin typeface="Times New Roman" panose="02020603050405020304" pitchFamily="18" charset="0"/>
                <a:ea typeface="Times New Roman" panose="02020603050405020304" pitchFamily="18" charset="0"/>
              </a:rPr>
              <a:t>This output demonstrates the model predicting sentiment for new text inputs. The model correctly classifies a positive review and a negative review, showing its effectiveness in real-time sentiment prediction.</a:t>
            </a:r>
            <a:endParaRPr lang="en-IN" sz="1200" dirty="0">
              <a:effectLst/>
              <a:latin typeface="Times New Roman" panose="02020603050405020304" pitchFamily="18" charset="0"/>
              <a:ea typeface="Times New Roman" panose="02020603050405020304" pitchFamily="18" charset="0"/>
            </a:endParaRPr>
          </a:p>
        </p:txBody>
      </p:sp>
      <p:sp>
        <p:nvSpPr>
          <p:cNvPr id="11" name="TextBox 10">
            <a:extLst>
              <a:ext uri="{FF2B5EF4-FFF2-40B4-BE49-F238E27FC236}">
                <a16:creationId xmlns:a16="http://schemas.microsoft.com/office/drawing/2014/main" id="{5916E39D-7B23-AF2B-83EA-87CA48B4DF7A}"/>
              </a:ext>
            </a:extLst>
          </p:cNvPr>
          <p:cNvSpPr txBox="1"/>
          <p:nvPr/>
        </p:nvSpPr>
        <p:spPr>
          <a:xfrm>
            <a:off x="121043" y="5572446"/>
            <a:ext cx="6094070" cy="1384995"/>
          </a:xfrm>
          <a:prstGeom prst="rect">
            <a:avLst/>
          </a:prstGeom>
          <a:noFill/>
        </p:spPr>
        <p:txBody>
          <a:bodyPr wrap="square">
            <a:spAutoFit/>
          </a:bodyPr>
          <a:lstStyle/>
          <a:p>
            <a:pPr indent="457200" algn="ctr">
              <a:buNone/>
            </a:pPr>
            <a:r>
              <a:rPr lang="en-IN" sz="1400" b="1" dirty="0">
                <a:effectLst/>
                <a:latin typeface="Times New Roman" panose="02020603050405020304" pitchFamily="18" charset="0"/>
                <a:ea typeface="Times New Roman" panose="02020603050405020304" pitchFamily="18" charset="0"/>
              </a:rPr>
              <a:t>Fig 7:</a:t>
            </a:r>
            <a:r>
              <a:rPr lang="en-IN" sz="1400" dirty="0">
                <a:effectLst/>
                <a:latin typeface="Times New Roman" panose="02020603050405020304" pitchFamily="18" charset="0"/>
                <a:ea typeface="Times New Roman" panose="02020603050405020304" pitchFamily="18" charset="0"/>
              </a:rPr>
              <a:t> </a:t>
            </a:r>
            <a:r>
              <a:rPr lang="en-IN" sz="1400" b="1" dirty="0">
                <a:effectLst/>
                <a:latin typeface="Times New Roman" panose="02020603050405020304" pitchFamily="18" charset="0"/>
                <a:ea typeface="Times New Roman" panose="02020603050405020304" pitchFamily="18" charset="0"/>
              </a:rPr>
              <a:t>Confusion Matrix</a:t>
            </a:r>
            <a:endParaRPr lang="en-IN" sz="1200" dirty="0">
              <a:effectLst/>
              <a:latin typeface="Times New Roman" panose="02020603050405020304" pitchFamily="18" charset="0"/>
              <a:ea typeface="Times New Roman" panose="02020603050405020304" pitchFamily="18" charset="0"/>
            </a:endParaRPr>
          </a:p>
          <a:p>
            <a:pPr algn="just">
              <a:buNone/>
            </a:pPr>
            <a:r>
              <a:rPr lang="en-IN" sz="1400" dirty="0">
                <a:effectLst/>
                <a:latin typeface="Times New Roman" panose="02020603050405020304" pitchFamily="18" charset="0"/>
                <a:ea typeface="Times New Roman" panose="02020603050405020304" pitchFamily="18" charset="0"/>
              </a:rPr>
              <a:t>This confusion matrix visualizes the performance of the sentiment analysis model by comparing actual and predicted labels. It shows the number of correct predictions as well as misclassifications, helping to evaluate how well the model distinguishes between positive and negative sentiments.</a:t>
            </a:r>
            <a:endParaRPr lang="en-IN" sz="1200" dirty="0">
              <a:effectLst/>
              <a:latin typeface="Times New Roman" panose="02020603050405020304" pitchFamily="18" charset="0"/>
              <a:ea typeface="Times New Roman" panose="02020603050405020304" pitchFamily="18" charset="0"/>
            </a:endParaRPr>
          </a:p>
          <a:p>
            <a:pPr algn="just">
              <a:buNone/>
            </a:pPr>
            <a:r>
              <a:rPr lang="en-IN" sz="1400" dirty="0">
                <a:effectLst/>
                <a:latin typeface="Times New Roman" panose="02020603050405020304" pitchFamily="18" charset="0"/>
                <a:ea typeface="Times New Roman" panose="02020603050405020304" pitchFamily="18" charset="0"/>
              </a:rPr>
              <a:t> </a:t>
            </a:r>
            <a:endParaRPr lang="en-IN" sz="12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258557901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28700" y="1108075"/>
            <a:ext cx="10515600" cy="619125"/>
          </a:xfrm>
        </p:spPr>
        <p:txBody>
          <a:bodyPr>
            <a:noAutofit/>
          </a:bodyPr>
          <a:lstStyle/>
          <a:p>
            <a:r>
              <a:rPr lang="en-US" b="1" dirty="0">
                <a:latin typeface="Times New Roman" panose="02020603050405020304" pitchFamily="18" charset="0"/>
                <a:cs typeface="Times New Roman" panose="02020603050405020304" pitchFamily="18" charset="0"/>
              </a:rPr>
              <a:t>4. </a:t>
            </a:r>
            <a:r>
              <a:rPr lang="en-IN" b="1" dirty="0">
                <a:latin typeface="Times New Roman" panose="02020603050405020304" pitchFamily="18" charset="0"/>
                <a:cs typeface="Times New Roman" panose="02020603050405020304" pitchFamily="18" charset="0"/>
              </a:rPr>
              <a:t>Conclusion </a:t>
            </a:r>
            <a:endParaRPr lang="en-US" b="1"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19150" y="1727200"/>
            <a:ext cx="10553700" cy="5410199"/>
          </a:xfrm>
        </p:spPr>
        <p:txBody>
          <a:bodyPr>
            <a:normAutofit/>
          </a:bodyPr>
          <a:lstStyle/>
          <a:p>
            <a:r>
              <a:rPr lang="en-US" sz="2400" dirty="0">
                <a:latin typeface="Times New Roman" panose="02020603050405020304" pitchFamily="18" charset="0"/>
                <a:cs typeface="Times New Roman" panose="02020603050405020304" pitchFamily="18" charset="0"/>
              </a:rPr>
              <a:t>Completed full data analysis pipeline </a:t>
            </a:r>
          </a:p>
          <a:p>
            <a:r>
              <a:rPr lang="en-US" sz="2400" dirty="0">
                <a:latin typeface="Times New Roman" panose="02020603050405020304" pitchFamily="18" charset="0"/>
                <a:cs typeface="Times New Roman" panose="02020603050405020304" pitchFamily="18" charset="0"/>
              </a:rPr>
              <a:t>Worked on real-world datasets </a:t>
            </a:r>
          </a:p>
          <a:p>
            <a:r>
              <a:rPr lang="en-US" sz="2400" dirty="0">
                <a:latin typeface="Times New Roman" panose="02020603050405020304" pitchFamily="18" charset="0"/>
                <a:cs typeface="Times New Roman" panose="02020603050405020304" pitchFamily="18" charset="0"/>
              </a:rPr>
              <a:t>Built ML models and dashboards </a:t>
            </a:r>
          </a:p>
          <a:p>
            <a:r>
              <a:rPr lang="en-US" sz="2400" dirty="0">
                <a:latin typeface="Times New Roman" panose="02020603050405020304" pitchFamily="18" charset="0"/>
                <a:cs typeface="Times New Roman" panose="02020603050405020304" pitchFamily="18" charset="0"/>
              </a:rPr>
              <a:t>Performed sentiment analysis </a:t>
            </a:r>
          </a:p>
          <a:p>
            <a:pPr marL="114300" indent="0">
              <a:buNone/>
            </a:pPr>
            <a:r>
              <a:rPr lang="en-US" sz="2400" b="1" dirty="0">
                <a:latin typeface="Times New Roman" panose="02020603050405020304" pitchFamily="18" charset="0"/>
                <a:cs typeface="Times New Roman" panose="02020603050405020304" pitchFamily="18" charset="0"/>
              </a:rPr>
              <a:t>Skills gained:</a:t>
            </a:r>
            <a:endParaRPr lang="en-US" sz="2400" dirty="0">
              <a:latin typeface="Times New Roman" panose="02020603050405020304" pitchFamily="18" charset="0"/>
              <a:cs typeface="Times New Roman" panose="02020603050405020304" pitchFamily="18" charset="0"/>
            </a:endParaRPr>
          </a:p>
          <a:p>
            <a:r>
              <a:rPr lang="en-US" sz="2400" dirty="0">
                <a:latin typeface="Times New Roman" panose="02020603050405020304" pitchFamily="18" charset="0"/>
                <a:cs typeface="Times New Roman" panose="02020603050405020304" pitchFamily="18" charset="0"/>
              </a:rPr>
              <a:t>Python </a:t>
            </a:r>
          </a:p>
          <a:p>
            <a:r>
              <a:rPr lang="en-US" sz="2400" dirty="0">
                <a:latin typeface="Times New Roman" panose="02020603050405020304" pitchFamily="18" charset="0"/>
                <a:cs typeface="Times New Roman" panose="02020603050405020304" pitchFamily="18" charset="0"/>
              </a:rPr>
              <a:t>Machine Learning </a:t>
            </a:r>
          </a:p>
          <a:p>
            <a:r>
              <a:rPr lang="en-US" sz="2400" dirty="0">
                <a:latin typeface="Times New Roman" panose="02020603050405020304" pitchFamily="18" charset="0"/>
                <a:cs typeface="Times New Roman" panose="02020603050405020304" pitchFamily="18" charset="0"/>
              </a:rPr>
              <a:t>Data Visualization </a:t>
            </a:r>
          </a:p>
          <a:p>
            <a:r>
              <a:rPr lang="en-US" sz="2400" dirty="0">
                <a:latin typeface="Times New Roman" panose="02020603050405020304" pitchFamily="18" charset="0"/>
                <a:cs typeface="Times New Roman" panose="02020603050405020304" pitchFamily="18" charset="0"/>
              </a:rPr>
              <a:t>NLP</a:t>
            </a:r>
          </a:p>
          <a:p>
            <a:pPr marL="114300" indent="0">
              <a:buNone/>
            </a:pPr>
            <a:endParaRPr lang="en-US" sz="2400" dirty="0">
              <a:latin typeface="Times New Roman" panose="02020603050405020304" pitchFamily="18" charset="0"/>
              <a:cs typeface="Times New Roman" panose="02020603050405020304" pitchFamily="18" charset="0"/>
            </a:endParaRPr>
          </a:p>
          <a:p>
            <a:pPr marL="114300" lvl="0" indent="0">
              <a:buNone/>
            </a:pPr>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16/4/2026                                                                   ENG22CT0052, Dept. of Computer Science &amp; Technology, </a:t>
            </a:r>
            <a:r>
              <a:rPr lang="en-US" sz="1200" dirty="0" err="1">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SoE</a:t>
            </a:r>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 DSU</a:t>
            </a:r>
          </a:p>
          <a:p>
            <a:pPr marL="114300" indent="0">
              <a:buNone/>
            </a:pPr>
            <a:endParaRPr lang="en-US" dirty="0"/>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15</a:t>
            </a:fld>
            <a:endParaRPr lang="en-US" dirty="0"/>
          </a:p>
        </p:txBody>
      </p:sp>
      <p:pic>
        <p:nvPicPr>
          <p:cNvPr id="5" name="Google Shape;151;p6"/>
          <p:cNvPicPr preferRelativeResize="0"/>
          <p:nvPr/>
        </p:nvPicPr>
        <p:blipFill rotWithShape="1">
          <a:blip r:embed="rId3">
            <a:alphaModFix/>
          </a:blip>
          <a:srcRect/>
          <a:stretch/>
        </p:blipFill>
        <p:spPr>
          <a:xfrm>
            <a:off x="70433" y="36724"/>
            <a:ext cx="2757608" cy="873605"/>
          </a:xfrm>
          <a:prstGeom prst="rect">
            <a:avLst/>
          </a:prstGeom>
          <a:noFill/>
          <a:ln>
            <a:noFill/>
          </a:ln>
        </p:spPr>
      </p:pic>
      <p:pic>
        <p:nvPicPr>
          <p:cNvPr id="6" name="Pictur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65750" y="0"/>
            <a:ext cx="2120900" cy="941926"/>
          </a:xfrm>
          <a:prstGeom prst="rect">
            <a:avLst/>
          </a:prstGeom>
        </p:spPr>
      </p:pic>
      <p:pic>
        <p:nvPicPr>
          <p:cNvPr id="7" name="Google Shape;139;p5"/>
          <p:cNvPicPr preferRelativeResize="0"/>
          <p:nvPr/>
        </p:nvPicPr>
        <p:blipFill rotWithShape="1">
          <a:blip r:embed="rId5">
            <a:alphaModFix/>
          </a:blip>
          <a:srcRect/>
          <a:stretch/>
        </p:blipFill>
        <p:spPr>
          <a:xfrm>
            <a:off x="9612157" y="36724"/>
            <a:ext cx="2389240" cy="791852"/>
          </a:xfrm>
          <a:prstGeom prst="rect">
            <a:avLst/>
          </a:prstGeom>
          <a:noFill/>
          <a:ln>
            <a:noFill/>
          </a:ln>
        </p:spPr>
      </p:pic>
    </p:spTree>
    <p:extLst>
      <p:ext uri="{BB962C8B-B14F-4D97-AF65-F5344CB8AC3E}">
        <p14:creationId xmlns:p14="http://schemas.microsoft.com/office/powerpoint/2010/main" val="4155874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511300"/>
            <a:ext cx="10515600" cy="965200"/>
          </a:xfrm>
        </p:spPr>
        <p:txBody>
          <a:bodyPr>
            <a:normAutofit fontScale="90000"/>
          </a:bodyPr>
          <a:lstStyle/>
          <a:p>
            <a:pPr lvl="0"/>
            <a:br>
              <a:rPr lang="en-US" sz="4900" dirty="0">
                <a:latin typeface="Times New Roman"/>
                <a:ea typeface="Times New Roman"/>
                <a:cs typeface="Times New Roman"/>
                <a:sym typeface="Times New Roman"/>
              </a:rPr>
            </a:br>
            <a:r>
              <a:rPr lang="en-US" sz="4900" b="1" dirty="0">
                <a:latin typeface="Times New Roman"/>
                <a:ea typeface="Times New Roman"/>
                <a:cs typeface="Times New Roman"/>
                <a:sym typeface="Times New Roman"/>
              </a:rPr>
              <a:t>5. Internship Completion certificate/status</a:t>
            </a:r>
            <a:br>
              <a:rPr lang="en-US" dirty="0">
                <a:latin typeface="Times New Roman"/>
                <a:ea typeface="Times New Roman"/>
                <a:cs typeface="Times New Roman"/>
                <a:sym typeface="Times New Roman"/>
              </a:rPr>
            </a:br>
            <a:endParaRPr lang="en-US"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838200" y="2895599"/>
            <a:ext cx="10515600" cy="3962401"/>
          </a:xfrm>
        </p:spPr>
        <p:txBody>
          <a:bodyPr>
            <a:normAutofit/>
          </a:bodyPr>
          <a:lstStyle/>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All 4 tasks completed successfully </a:t>
            </a:r>
          </a:p>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Project submitted </a:t>
            </a:r>
          </a:p>
          <a:p>
            <a:pPr marL="0" lvl="0" indent="0" eaLnBrk="0" fontAlgn="base" hangingPunct="0">
              <a:lnSpc>
                <a:spcPct val="100000"/>
              </a:lnSpc>
              <a:spcBef>
                <a:spcPct val="0"/>
              </a:spcBef>
              <a:spcAft>
                <a:spcPct val="0"/>
              </a:spcAft>
              <a:buClrTx/>
              <a:buSzTx/>
              <a:buFontTx/>
              <a:buChar char="•"/>
            </a:pPr>
            <a:r>
              <a:rPr lang="en-US" altLang="en-US" dirty="0">
                <a:solidFill>
                  <a:schemeClr val="tx1"/>
                </a:solidFill>
                <a:latin typeface="Times New Roman" panose="02020603050405020304" pitchFamily="18" charset="0"/>
                <a:cs typeface="Times New Roman" panose="02020603050405020304" pitchFamily="18" charset="0"/>
              </a:rPr>
              <a:t> Certificate: Awaited  </a:t>
            </a:r>
          </a:p>
          <a:p>
            <a:pPr marL="114300" indent="0">
              <a:buNone/>
            </a:pPr>
            <a:endParaRPr lang="en-US" dirty="0">
              <a:latin typeface="Times New Roman" panose="02020603050405020304" pitchFamily="18" charset="0"/>
              <a:cs typeface="Times New Roman" panose="02020603050405020304" pitchFamily="18" charset="0"/>
            </a:endParaRPr>
          </a:p>
          <a:p>
            <a:pPr marL="114300" lvl="0" indent="0">
              <a:buNone/>
            </a:pPr>
            <a:endParaRPr lang="en-US" dirty="0">
              <a:latin typeface="Times New Roman" panose="02020603050405020304" pitchFamily="18" charset="0"/>
              <a:cs typeface="Times New Roman" panose="02020603050405020304" pitchFamily="18" charset="0"/>
            </a:endParaRPr>
          </a:p>
          <a:p>
            <a:pPr marL="114300" lvl="0" indent="0">
              <a:buNone/>
            </a:pPr>
            <a:endParaRPr lang="en-US" sz="12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114300" lvl="0" indent="0">
              <a:buNone/>
            </a:pPr>
            <a:endParaRPr lang="en-US" sz="12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114300" lvl="0" indent="0">
              <a:buNone/>
            </a:pPr>
            <a:endParaRPr lang="en-US" sz="12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114300" lvl="0" indent="0">
              <a:buNone/>
            </a:pPr>
            <a:endParaRPr lang="en-US" sz="1200" dirty="0">
              <a:solidFill>
                <a:schemeClr val="bg1">
                  <a:lumMod val="50000"/>
                </a:schemeClr>
              </a:solidFill>
              <a:latin typeface="Times New Roman" panose="02020603050405020304" pitchFamily="18" charset="0"/>
              <a:ea typeface="Calibri" panose="020F0502020204030204" pitchFamily="34" charset="0"/>
              <a:cs typeface="Times New Roman" panose="02020603050405020304" pitchFamily="18" charset="0"/>
            </a:endParaRPr>
          </a:p>
          <a:p>
            <a:pPr marL="114300" lvl="0" indent="0">
              <a:buNone/>
            </a:pPr>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16/4/2026                                                                   ENG22CT0052, Dept. of Computer Science &amp; Technology, </a:t>
            </a:r>
            <a:r>
              <a:rPr lang="en-US" sz="1200" dirty="0" err="1">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SoE</a:t>
            </a:r>
            <a:r>
              <a:rPr lang="en-US" sz="1200" dirty="0">
                <a:solidFill>
                  <a:schemeClr val="bg1">
                    <a:lumMod val="50000"/>
                  </a:schemeClr>
                </a:solidFill>
                <a:latin typeface="Calibri" panose="020F0502020204030204" pitchFamily="34" charset="0"/>
                <a:ea typeface="Calibri" panose="020F0502020204030204" pitchFamily="34" charset="0"/>
                <a:cs typeface="Calibri" panose="020F0502020204030204" pitchFamily="34" charset="0"/>
              </a:rPr>
              <a:t>, DSU</a:t>
            </a:r>
          </a:p>
          <a:p>
            <a:pPr marL="114300" indent="0">
              <a:buNone/>
            </a:pP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16</a:t>
            </a:fld>
            <a:endParaRPr lang="en-US"/>
          </a:p>
        </p:txBody>
      </p:sp>
      <p:pic>
        <p:nvPicPr>
          <p:cNvPr id="5" name="Google Shape;151;p6"/>
          <p:cNvPicPr preferRelativeResize="0"/>
          <p:nvPr/>
        </p:nvPicPr>
        <p:blipFill rotWithShape="1">
          <a:blip r:embed="rId2">
            <a:alphaModFix/>
          </a:blip>
          <a:srcRect/>
          <a:stretch/>
        </p:blipFill>
        <p:spPr>
          <a:xfrm>
            <a:off x="70433" y="36724"/>
            <a:ext cx="2757608" cy="873605"/>
          </a:xfrm>
          <a:prstGeom prst="rect">
            <a:avLst/>
          </a:prstGeom>
          <a:noFill/>
          <a:ln>
            <a:noFill/>
          </a:ln>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365750" y="0"/>
            <a:ext cx="2120900" cy="941926"/>
          </a:xfrm>
          <a:prstGeom prst="rect">
            <a:avLst/>
          </a:prstGeom>
        </p:spPr>
      </p:pic>
      <p:pic>
        <p:nvPicPr>
          <p:cNvPr id="7" name="Google Shape;139;p5"/>
          <p:cNvPicPr preferRelativeResize="0"/>
          <p:nvPr/>
        </p:nvPicPr>
        <p:blipFill rotWithShape="1">
          <a:blip r:embed="rId4">
            <a:alphaModFix/>
          </a:blip>
          <a:srcRect/>
          <a:stretch/>
        </p:blipFill>
        <p:spPr>
          <a:xfrm>
            <a:off x="9612157" y="36724"/>
            <a:ext cx="2389240" cy="791852"/>
          </a:xfrm>
          <a:prstGeom prst="rect">
            <a:avLst/>
          </a:prstGeom>
          <a:noFill/>
          <a:ln>
            <a:noFill/>
          </a:ln>
        </p:spPr>
      </p:pic>
    </p:spTree>
    <p:extLst>
      <p:ext uri="{BB962C8B-B14F-4D97-AF65-F5344CB8AC3E}">
        <p14:creationId xmlns:p14="http://schemas.microsoft.com/office/powerpoint/2010/main" val="13324835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6"/>
          <p:cNvSpPr txBox="1">
            <a:spLocks noGrp="1"/>
          </p:cNvSpPr>
          <p:nvPr>
            <p:ph type="title"/>
          </p:nvPr>
        </p:nvSpPr>
        <p:spPr>
          <a:xfrm>
            <a:off x="838200" y="978650"/>
            <a:ext cx="10515600" cy="4796508"/>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dk1"/>
              </a:buClr>
              <a:buSzPts val="4400"/>
              <a:buFont typeface="Times New Roman"/>
              <a:buNone/>
            </a:pPr>
            <a:r>
              <a:rPr lang="en-US">
                <a:latin typeface="Times New Roman"/>
                <a:ea typeface="Times New Roman"/>
                <a:cs typeface="Times New Roman"/>
                <a:sym typeface="Times New Roman"/>
              </a:rPr>
              <a:t>Thank you</a:t>
            </a:r>
            <a:endParaRPr/>
          </a:p>
        </p:txBody>
      </p:sp>
      <p:pic>
        <p:nvPicPr>
          <p:cNvPr id="150" name="Google Shape;150;p6"/>
          <p:cNvPicPr preferRelativeResize="0"/>
          <p:nvPr/>
        </p:nvPicPr>
        <p:blipFill rotWithShape="1">
          <a:blip r:embed="rId3">
            <a:alphaModFix/>
          </a:blip>
          <a:srcRect/>
          <a:stretch/>
        </p:blipFill>
        <p:spPr>
          <a:xfrm>
            <a:off x="9574057" y="1"/>
            <a:ext cx="2389240" cy="791852"/>
          </a:xfrm>
          <a:prstGeom prst="rect">
            <a:avLst/>
          </a:prstGeom>
          <a:noFill/>
          <a:ln>
            <a:noFill/>
          </a:ln>
        </p:spPr>
      </p:pic>
      <p:pic>
        <p:nvPicPr>
          <p:cNvPr id="151" name="Google Shape;151;p6"/>
          <p:cNvPicPr preferRelativeResize="0"/>
          <p:nvPr/>
        </p:nvPicPr>
        <p:blipFill rotWithShape="1">
          <a:blip r:embed="rId4">
            <a:alphaModFix/>
          </a:blip>
          <a:srcRect/>
          <a:stretch/>
        </p:blipFill>
        <p:spPr>
          <a:xfrm>
            <a:off x="70433" y="36724"/>
            <a:ext cx="2757608" cy="873605"/>
          </a:xfrm>
          <a:prstGeom prst="rect">
            <a:avLst/>
          </a:prstGeom>
          <a:noFill/>
          <a:ln>
            <a:noFill/>
          </a:ln>
        </p:spPr>
      </p:pic>
      <p:sp>
        <p:nvSpPr>
          <p:cNvPr id="152" name="Google Shape;15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lvl="0"/>
            <a:r>
              <a:rPr lang="en-US" dirty="0">
                <a:latin typeface="Calibri" panose="020F0502020204030204" pitchFamily="34" charset="0"/>
                <a:ea typeface="Calibri" panose="020F0502020204030204" pitchFamily="34" charset="0"/>
                <a:cs typeface="Calibri" panose="020F0502020204030204" pitchFamily="34" charset="0"/>
              </a:rPr>
              <a:t>16/4/2026</a:t>
            </a:r>
            <a:endParaRPr dirty="0"/>
          </a:p>
        </p:txBody>
      </p:sp>
      <p:sp>
        <p:nvSpPr>
          <p:cNvPr id="153" name="Google Shape;153;p6"/>
          <p:cNvSpPr txBox="1">
            <a:spLocks noGrp="1"/>
          </p:cNvSpPr>
          <p:nvPr>
            <p:ph type="ftr" idx="11"/>
          </p:nvPr>
        </p:nvSpPr>
        <p:spPr>
          <a:xfrm>
            <a:off x="4038600" y="6356350"/>
            <a:ext cx="4406900" cy="365125"/>
          </a:xfrm>
          <a:prstGeom prst="rect">
            <a:avLst/>
          </a:prstGeom>
          <a:noFill/>
          <a:ln>
            <a:noFill/>
          </a:ln>
        </p:spPr>
        <p:txBody>
          <a:bodyPr spcFirstLastPara="1" wrap="square" lIns="91425" tIns="45700" rIns="91425" bIns="45700" anchor="ctr" anchorCtr="0">
            <a:noAutofit/>
          </a:bodyPr>
          <a:lstStyle/>
          <a:p>
            <a:pPr lvl="0"/>
            <a:r>
              <a:rPr lang="en-US" dirty="0"/>
              <a:t>ENG22CT0052, Dept. of Computer Science &amp; Technology, </a:t>
            </a:r>
            <a:r>
              <a:rPr lang="en-US" dirty="0" err="1"/>
              <a:t>SoE</a:t>
            </a:r>
            <a:r>
              <a:rPr lang="en-US" dirty="0"/>
              <a:t>, DSU</a:t>
            </a:r>
          </a:p>
        </p:txBody>
      </p:sp>
      <p:sp>
        <p:nvSpPr>
          <p:cNvPr id="154" name="Google Shape;15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17</a:t>
            </a:fld>
            <a:endParaRPr/>
          </a:p>
        </p:txBody>
      </p:sp>
      <p:pic>
        <p:nvPicPr>
          <p:cNvPr id="10" name="Picture 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876800" y="36724"/>
            <a:ext cx="2120900" cy="94192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235</TotalTime>
  <Words>1032</Words>
  <Application>Microsoft Office PowerPoint</Application>
  <PresentationFormat>Widescreen</PresentationFormat>
  <Paragraphs>170</Paragraphs>
  <Slides>17</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Times New Roman</vt:lpstr>
      <vt:lpstr>Office Theme</vt:lpstr>
      <vt:lpstr>Data Analytics</vt:lpstr>
      <vt:lpstr>Agenda</vt:lpstr>
      <vt:lpstr>1. About the Company</vt:lpstr>
      <vt:lpstr>2. Assigned Project</vt:lpstr>
      <vt:lpstr> 3. Technologies Used </vt:lpstr>
      <vt:lpstr>RESULT Task1: Big Data Analysis </vt:lpstr>
      <vt:lpstr>PowerPoint Presentation</vt:lpstr>
      <vt:lpstr>Task 2: Machine Learning(House Price Prediction)</vt:lpstr>
      <vt:lpstr>PowerPoint Presentation</vt:lpstr>
      <vt:lpstr>Task 3: Dashboard Development</vt:lpstr>
      <vt:lpstr>PowerPoint Presentation</vt:lpstr>
      <vt:lpstr>Task 4: Sentiment Analysis</vt:lpstr>
      <vt:lpstr>PowerPoint Presentation</vt:lpstr>
      <vt:lpstr>PowerPoint Presentation</vt:lpstr>
      <vt:lpstr>4. Conclusion </vt:lpstr>
      <vt:lpstr> 5. Internship Completion certificate/status </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dc:title>
  <dc:creator>raman grewal</dc:creator>
  <cp:lastModifiedBy>YAMUNA VENKATESH</cp:lastModifiedBy>
  <cp:revision>21</cp:revision>
  <dcterms:created xsi:type="dcterms:W3CDTF">2026-04-02T09:04:43Z</dcterms:created>
  <dcterms:modified xsi:type="dcterms:W3CDTF">2026-04-16T04:51:01Z</dcterms:modified>
</cp:coreProperties>
</file>